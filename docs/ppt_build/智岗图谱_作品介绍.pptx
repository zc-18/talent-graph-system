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93A8D8">
                <a:alpha val="28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3A8D8">
                <a:alpha val="28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3A8D8">
                <a:alpha val="28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3A8D8">
                <a:alpha val="28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3A8D8">
                <a:alpha val="2.8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3A8D8">
                <a:alpha val="2.8000000000000003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6.394510321986036e+29" dist="1.598627580496509e+29" dir="2.519424e+35">
              <a:srgbClr val="93A8D8">
                <a:alpha val="2.8000000000000005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3A8D8">
                <a:alpha val="2.8000000000000006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3A8D8">
                <a:alpha val="2.8000000000000005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3A8D8">
                <a:alpha val="2.8000000000000003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3A8D8">
                <a:alpha val="2.8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3A8D8">
                <a:alpha val="2.8000000000000002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3A8D8">
                <a:alpha val="2.8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3A8D8">
                <a:alpha val="2.8000000000000002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3A8D8">
                <a:alpha val="2.8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3A8D8">
                <a:alpha val="2.8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3A8D8">
                <a:alpha val="2.8000000000000002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岗位（新兴6）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0632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4570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306324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技能（含4000技能点）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2523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30352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5438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5386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54380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8408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0.6167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78408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岗位置信度均值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3A8D8">
                <a:alpha val="2.8000000000000004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真实数据采集与合规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2523 条真实 JD · 官网公开接口合法采集 · 全程台账可溯源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3A8D8">
                <a:alpha val="2.8000000000000004e+9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81912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8191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腾讯招聘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560320" y="14173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careers.tencent.com 官网公开接口 · 255 条 · 权威度 1.0（批次 2026W31-r1）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350008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3A8D8">
                <a:alpha val="2.8000000000000003e+99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514600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14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网易招聘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2350008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hr.163.com 官网公开接口 · 251 条 · 权威度 1.0（批次 2026W31-r1）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82696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3A8D8">
                <a:alpha val="2.8000000000000003e+104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47288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560320" y="3282696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前程无忧公开数据集 300 条（2018-12 采集）· 权威度 0.7 · 驱动真实 v1→v2 演化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15384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3A8D8">
                <a:alpha val="2.8e+10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379976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79976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权威佐证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60320" y="4215384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人社部文件 / 头部机构报告 8 条 · 权威度 1.0 · 原文快照归档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1417320"/>
            <a:ext cx="4023360" cy="3639312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3A8D8">
                <a:alpha val="2.8e+11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0" y="15727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代码级采集护栏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63840" y="20116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robots.txt 检查 + 单站 ≥4 秒控频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不携带登录态，只采公开数据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PII 双保险：字段拦截 + 正则打码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每次请求写入采集台账日志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jsonl 原始留存 + raw_jd 表溯源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SimHash 查重检出 25 条重复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1155680" cy="7772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数据源台账在系统首页可视化：采集 2523 → 查重 → 解析 → 交叉验证 → 入图谱，闭环每一环都有真实数字可查；合成数据集（379 条）重新定位为对抗测试夹具，不进生产图谱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7193799790595354e+99" dist="9.298449947648839e+98" dir="4.2645432044894554e+116">
              <a:srgbClr val="93A8D8">
                <a:alpha val="2.8e+11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3A8D8">
                <a:alpha val="2.8e+124"/>
              </a:srgbClr>
            </a:outerShdw>
          </a:effectLst>
        </p:spPr>
      </p:sp>
      <p:pic>
        <p:nvPicPr>
          <p:cNvPr id="8" name="Image 0" descr="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998987968225125e+107" dist="1.499746992056281e+107" dir="1.535235553616204e+126">
              <a:srgbClr val="93A8D8">
                <a:alpha val="2.8e+12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3A8D8">
                <a:alpha val="2.8e+13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3A8D8">
                <a:alpha val="2.8e+13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855F7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3A8D8">
                <a:alpha val="2.7999999999999997e+14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5606045713572446e+124" dist="3.9015114283931116e+123" dir="1.9896652774866004e+145">
              <a:srgbClr val="93A8D8">
                <a:alpha val="2.8e+14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19678056237005e+128" dist="4.954919514059251e+127" dir="1.1937991664919603e+150">
              <a:srgbClr val="93A8D8">
                <a:alpha val="2.8e+15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8775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170991131420998e+132" dist="6.2927477828552495e+131" dir="7.162794998951762e+154">
              <a:srgbClr val="93A8D8">
                <a:alpha val="2.8e+15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3A8D8">
                <a:alpha val="2.8e+16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5119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3A8D8">
                <a:alpha val="2.8e+16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8291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2980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155983032675354e+144" dist="1.2889957581688384e+144" dir="1.5471637197735807e+169">
              <a:srgbClr val="93A8D8">
                <a:alpha val="2.8000000000000004e+17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3A8D8">
                <a:alpha val="2.8000000000000006e+17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718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663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60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554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5554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   （13 条多源证据 · 3 个独立来源交叉验证）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当前 6 个新兴岗位全部有权威佐证（人社部文件/头部报告），标注「新出现 / 复兴」徽章，支持人工优化与动态更新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316085033402078e+152" dist="2.0790212583505195e+152" dir="5.569789391184891e+178">
              <a:srgbClr val="93A8D8">
                <a:alpha val="2.8000000000000007e+18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 → 2026 现网真实 JD 驱动演化 · 自动标注变更并溯源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3A8D8">
                <a:alpha val="2.8000000000000006e+18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413013550374212e+161" dist="3.353253387593553e+160" dir="2.0051241808265608e+188">
              <a:srgbClr val="93A8D8">
                <a:alpha val="2.8000000000000004e+19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3A8D8">
                <a:alpha val="2.8000000000000005e+19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1633849555398568e+169" dist="5.408462388849642e+168" dir="7.218447050975619e+197">
              <a:srgbClr val="93A8D8">
                <a:alpha val="2.800000000000001e+20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分级演化 · 初/中/高晋升路径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32 个岗位建有三档分级画像 · 621 条真实演化记录贯穿 2018→2024→2026 三个切片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7474988935356184e+173" dist="6.868747233839046e+172" dir="4.3310682305853715e+202">
              <a:srgbClr val="93A8D8">
                <a:alpha val="2.800000000000001e+20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初级 Junior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0428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0-3 年 · 基础技术栈与工程规范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205740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893235947902355e+177" dist="8.723308986975589e+176" dir="2.598640938351223e+207">
              <a:srgbClr val="93A8D8">
                <a:alpha val="2.8000000000000007e+21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860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中级 Middle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80720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 年 · 独立负责模块与核心技能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56032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3880" y="256032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3A8D8">
                <a:alpha val="2.8000000000000008e+21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7889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7889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 Senior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33101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年以上 · 架构能力与技术引领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611880"/>
            <a:ext cx="111556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3A8D8">
                <a:alpha val="2.800000000000001e+22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794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晋升 diff（复用演化引擎的级别差异计算）｜示例：AI智能体开发工程师 中级 → 高级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5196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晋升需新增掌握：云原生 等 8 条能力项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晋升要求强化：核心技能权重显著上调（如 45% → 72%）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⚪ 部分基础技能在高级 JD 中不再单列 —— 视为默认前提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级别由真实 JD 标题关键词 + 经验年限自动推断分桶，每档 ≥3 条 JD 才产出画像，前端以「初级→中级→高级」阶梯视图展示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7.147471133067207e+189" dist="1.7868677832668018e+189" dir="5.613064426838642e+221">
              <a:srgbClr val="93A8D8">
                <a:alpha val="2.800000000000001e+22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077288338995353e+193" dist="2.2693220847488382e+193" dir="3.367838656103185e+226">
              <a:srgbClr val="93A8D8">
                <a:alpha val="2.800000000000001e+234"/>
              </a:srgbClr>
            </a:outerShdw>
          </a:effectLst>
        </p:spPr>
      </p:sp>
      <p:pic>
        <p:nvPicPr>
          <p:cNvPr id="8" name="Image 0" descr="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528156190524098e+198" dist="2.8820390476310245e+197" dir="2.020703193661911e+231">
              <a:srgbClr val="93A8D8">
                <a:alpha val="2.800000000000001e+239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3A8D8">
                <a:alpha val="2.800000000000001e+24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3A8D8">
                <a:alpha val="2.800000000000001e+249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3A8D8">
                <a:alpha val="2.800000000000001e+254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989880535758187e+214" dist="7.497470133939547e+213" dir="2.6188313389858368e+250">
              <a:srgbClr val="93A8D8">
                <a:alpha val="2.8000000000000008e+2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80871482804129e+218" dist="9.521787070103225e+217" dir="1.571298803391502e+255">
              <a:srgbClr val="93A8D8">
                <a:alpha val="2.800000000000001e+26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3A8D8">
                <a:alpha val="2.800000000000001e+26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143076146147797e+226" dist="1.5357690365369493e+226" dir="5.656675692209407e+264">
              <a:srgbClr val="93A8D8">
                <a:alpha val="2.800000000000001e+27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17/17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3A8D8">
                <a:alpha val="2.8000000000000007e+27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3A8D8">
                <a:alpha val="2.8000000000000006e+28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2583372745474664e+239" dist="3.145843186368666e+238" dir="1.221841949517232e+279">
              <a:srgbClr val="93A8D8">
                <a:alpha val="2.8000000000000008e+2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.5980883386752823e+243" dist="3.995220846688206e+242" dir="7.331051697103393e+283">
              <a:srgbClr val="93A8D8">
                <a:alpha val="2.800000000000001e+29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0.35·支持率 + 0.20·来源多样性 + 0.15·时效性 + 0.20·来源权威度 + 0.10·外部验证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0295721901176086e+247" dist="5.0739304752940216e+246" dir="4.3986310182620354e+288">
              <a:srgbClr val="93A8D8">
                <a:alpha val="2.800000000000001e+29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个独立非重复来源，否则自动降级为加分技能 —— 防止单源臆造被定义为"必备"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77556681449363e+251" dist="6.443891703623408e+250" dir="2.6391786109572213e+293">
              <a:srgbClr val="93A8D8">
                <a:alpha val="2.8000000000000006e+30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低于阈值（0.45）的能力项标记为候选，不进入正式图谱 —— 过滤潜在幻觉 / 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3A8D8">
                <a:alpha val="Infinity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4.1573411715096775e+259" dist="1.0393352928774194e+259" dir="9.501042999445996e+302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统一置信度公式 · 每一分都可解释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五因子线性加权（services/confidence.py 全系统唯一）· 因子逐项落库 · 前端点击徽章可见分解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27982328781729e+263" dist="1.3199558219543225e+263" dir="5.700625799667598e+307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支持率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12648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提及技能的独立 JD 数 ÷ 有效 JD 总数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0632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705375575527958e+267" dist="1.6763438938819895e+267" dir="Infinity">
              <a:srgbClr val="93A8D8">
                <a:alpha val="Infinity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70632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70632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来源多样性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80360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独立平台数 ÷ 3 封顶（真实语料校准后冻结）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8344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515826980920506e+271" dist="2.1289567452301266e+271" dir="Infinity">
              <a:srgbClr val="93A8D8">
                <a:alpha val="Infinity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38344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38344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48072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新鲜度均值，指数衰减半衰期 180 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06056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815100265769043e+276" dist="2.7037750664422608e+275" dir="Infinity">
              <a:srgbClr val="93A8D8">
                <a:alpha val="Infinity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06056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06056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来源权威度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15784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官网/政府 1.0 · 数据集 0.7 · 网络 0.6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573768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735177337526685e+280" dist="3.433794334381671e+279" dir="Infinity">
              <a:srgbClr val="93A8D8">
                <a:alpha val="Infinity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573768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573768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83496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联网检索 / 权威文件佐证记 1，否则 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703320"/>
            <a:ext cx="111556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44367521865889e+284" dist="4.360918804664722e+283" dir="Infinity">
              <a:srgbClr val="93A8D8">
                <a:alpha val="Infinity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3858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算例（真实数据）｜技能「大语言模型」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2611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9/13 条有效 JD 提及（支持率 0.69）· 2 个平台（多样性 0.67）· 平均新鲜度 0.88 · 全部企业官网（权威度 1.0）· 暂无外部验证（0）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681728"/>
            <a:ext cx="10607040" cy="548640"/>
          </a:xfrm>
          <a:prstGeom prst="rect">
            <a:avLst/>
          </a:prstGeom>
          <a:solidFill>
            <a:srgbClr val="E0F2F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0.35×0.69 + 0.20×0.67 + 0.15×0.88 + 0.20×1.0 + 0.10×0 ≈ 0.71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岗位整体置信度 = 粗粒度 active 能力项的权重加权平均；全库岗位均值 0.6167 —— 真实数据下的诚实数字（1885 项单来源细粒度技能点降级为 candidate，保留可查但不进图谱主视图）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2153467527696788e+288" dist="5.538366881924197e+287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双轨数据集（对抗基准 379 条 + 真实语料 2523 条）·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8134903760174922e+292" dist="7.033725940043731e+291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98.24%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371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573132777542215e+296" dist="8.932831943855538e+295" dir="Infinity">
              <a:srgbClr val="93A8D8">
                <a:alpha val="Infinity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96.49%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537878627478613e+300" dist="1.1344696568696533e+300" dir="Infinity">
              <a:srgbClr val="93A8D8">
                <a:alpha val="Infinity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816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3816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763105856897839e+304" dist="1.4407764642244596e+304" dir="Infinity">
              <a:srgbClr val="93A8D8">
                <a:alpha val="Infinity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8328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21792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05256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5256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测试数据与评测脚本可一键复现：run_collect → import_raw → run_pipeline --from-db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162MB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数据合规：简历个人信息不留存，能力项可溯源审计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数据合规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2026-07-29T10:21:46Z</dcterms:created>
  <dcterms:modified xsi:type="dcterms:W3CDTF">2026-07-29T10:21:46Z</dcterms:modified>
</cp:coreProperties>
</file>