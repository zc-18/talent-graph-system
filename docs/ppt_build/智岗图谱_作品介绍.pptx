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91440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93A8D8">
                <a:alpha val="28000"/>
              </a:srgbClr>
            </a:outerShdw>
          </a:effectLst>
        </p:spPr>
      </p:sp>
      <p:pic>
        <p:nvPicPr>
          <p:cNvPr id="4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9692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801368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TalentGraph AI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多源异构数据驱动岗位和能力图谱构建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与动态演化分析系统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·  可自我进化的"人才能力大脑"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935480000" dist="483870000" dir="324000000000">
              <a:srgbClr val="93A8D8">
                <a:alpha val="28000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43784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24580596000000" dist="6145149000000" dir="19440000000000000">
              <a:srgbClr val="93A8D8">
                <a:alpha val="2800000000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843784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能力动态演化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18888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12173569200000000" dist="78043392300000000" dir="1.1664e+21">
              <a:srgbClr val="93A8D8">
                <a:alpha val="280000000000000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18888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全景能力图谱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793992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.96460432884e+21" dist="991151082210000000000" dir="6.9984e+25">
              <a:srgbClr val="93A8D8">
                <a:alpha val="2.8e+24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793992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69096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5.0350474976268e+25" dist="1.2587618744067e+25" dir="4.19904e+30">
              <a:srgbClr val="93A8D8">
                <a:alpha val="2.8000000000000003e+29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769096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反幻觉防控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题目编号 XH-202621  |  发榜单位：科大讯飞股份有限公司  |  在线系统：http://101.200.184.201:8200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6.394510321986036e+29" dist="1.598627580496509e+29" dir="2.519424e+35">
              <a:srgbClr val="93A8D8">
                <a:alpha val="2.8000000000000005e+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背景与痛点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数字经济时代的人才"结构性矛盾"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121028108922265e+33" dist="2.0302570272305663e+33" dir="1.5116544e+40">
              <a:srgbClr val="93A8D8">
                <a:alpha val="2.8000000000000006e+3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招不到合适的人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新兴岗位识别难、人岗匹配度低，招聘与培养成本居高不下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313705698331276e+38" dist="2.578426424582819e+37" dir="9.069926400000001e+44">
              <a:srgbClr val="93A8D8">
                <a:alpha val="2.8000000000000005e+4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1772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看不清职业路径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1772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新兴领域青年技能需求动态性强，缺乏动态行业技能图谱指引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098406236880721e+42" dist="3.2746015592201804e+41" dir="5.44195584e+49">
              <a:srgbClr val="93A8D8">
                <a:alpha val="2.8000000000000003e+4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A85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41248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方法侧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感知不到趋势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41248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传统关键词匹配无法回答"技术A爆发会给岗位B带来哪些新技能"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数据难题：招聘 JD 普遍存在  时滞 · 噪音 · 抄袭 · 通胀；大模型生成能力定义易产生"幻觉"，不可信、不可溯源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6634975920838516e+46" dist="4.158743980209629e+45" dir="3.2651735040000005e+54">
              <a:srgbClr val="93A8D8">
                <a:alpha val="2.8e+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系统总览 · 全流程闭环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 → 图谱构建演化 → 匹配诊断的端到端闭环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1126419419464913e+50" dist="5.281604854866228e+49" dir="1.9591041024000004e+59">
              <a:srgbClr val="93A8D8">
                <a:alpha val="2.8000000000000002e+5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招聘JD · 联网检索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30552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95728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683055266272044e+54" dist="6.70763816568011e+53" dir="1.1754624614400003e+64">
              <a:srgbClr val="93A8D8">
                <a:alpha val="2.8e+6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95728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清洗·交叉验证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41448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去抄袭/通胀/时滞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3360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88536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074801881654956e+58" dist="8.518700470413739e+57" dir="7.052774768640002e+68">
              <a:srgbClr val="93A8D8">
                <a:alpha val="2.8000000000000002e+69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88536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61688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大模型抽取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34256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结构化能力项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16168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81344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32749983897018e+62" dist="1.081874959742545e+62" dir="4.2316648611840007e+73">
              <a:srgbClr val="93A8D8">
                <a:alpha val="2.8e+74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81344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54496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反幻觉聚合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27064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 + 溯源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08976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74152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495924795492128e+66" dist="1.373981198873032e+66" dir="2.5389989167104004e+78">
              <a:srgbClr val="93A8D8">
                <a:alpha val="2.8e+79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74152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47304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图谱构建/演化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19872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动态更新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701784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96696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979824490275003e+70" dist="1.7449561225687507e+70" dir="1.5233993500262402e+83">
              <a:srgbClr val="93A8D8">
                <a:alpha val="2.8000000000000002e+84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96696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4011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匹配与诊断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01268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+ 学习路径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296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82296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06324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306324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技能点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379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530352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岗位JD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54380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1757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754380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溯源证据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78408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93.0%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978408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平均置信度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技术栈：FastAPI · SQLAlchemy · DeepSeek 大模型 · BGE 向量 · Tavily + Serper 多源检索 · MySQL · React + ECharts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8.864377102649254e+74" dist="2.2160942756623134e+74" dir="9.14039610015744e+87">
              <a:srgbClr val="93A8D8">
                <a:alpha val="2.8000000000000004e+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新一代信息技术岗位全景图谱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技能点级粒度 · 可按技术栈/级别/置信度切换视图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4066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1257758920364552e+79" dist="2.814439730091138e+78" dir="5.484237660094465e+92">
              <a:srgbClr val="93A8D8">
                <a:alpha val="2.8000000000000004e+94"/>
              </a:srgbClr>
            </a:outerShdw>
          </a:effectLst>
        </p:spPr>
      </p:sp>
      <p:pic>
        <p:nvPicPr>
          <p:cNvPr id="8" name="Image 0" descr="02_全景能力图谱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713232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92440" y="15544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29735382886298e+83" dist="3.574338457215745e+82" dir="3.2905425960566786e+97">
              <a:srgbClr val="93A8D8">
                <a:alpha val="2.8000000000000003e+99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75320" y="18470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彩色节点 = 岗位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869680" y="208483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按技术栈着色，新兴岗位琥珀高亮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2743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157639362655985e+87" dist="4.539409840663996e+86" dir="1.9743255576340073e+102">
              <a:srgbClr val="93A8D8">
                <a:alpha val="2.8000000000000003e+10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75320" y="30358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15" name="Text 12"/>
          <p:cNvSpPr/>
          <p:nvPr/>
        </p:nvSpPr>
        <p:spPr>
          <a:xfrm>
            <a:off x="8869680" y="290779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灰/彩节点 = 技能点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869680" y="327355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颗粒度到具体技术，可下钻关联岗位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92440" y="393192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0602019905731e+91" dist="5.765050497643275e+90" dir="1.1845953345804043e+107">
              <a:srgbClr val="93A8D8">
                <a:alpha val="2.8e+10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5320" y="4224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855F7"/>
          </a:solidFill>
          <a:ln/>
        </p:spPr>
      </p:sp>
      <p:sp>
        <p:nvSpPr>
          <p:cNvPr id="19" name="Text 16"/>
          <p:cNvSpPr/>
          <p:nvPr/>
        </p:nvSpPr>
        <p:spPr>
          <a:xfrm>
            <a:off x="8869680" y="40965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力导向交互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869680" y="44622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· 缩放 · 邻接聚焦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92440" y="5120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286456528027836e+95" dist="7.321614132006959e+94" dir="7.107572007482426e+111">
              <a:srgbClr val="93A8D8">
                <a:alpha val="2.8e+114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75320" y="5413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8869680" y="528523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多视图切换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869680" y="565099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 / 级别 / 置信度阈值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3.7193799790595354e+99" dist="9.298449947648839e+98" dir="4.2645432044894554e+116">
              <a:srgbClr val="93A8D8">
                <a:alpha val="2.8e+11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新岗位发现与定义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多源联网检索 + 大模型 RAG 接地，识别萌芽中的新兴岗位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72361257340561e+103" dist="1.1809031433514024e+103" dir="2.5587259226936733e+121">
              <a:srgbClr val="93A8D8">
                <a:alpha val="2.8e+12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关键词/种子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8775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3464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998987968225125e+107" dist="1.499746992056281e+107" dir="1.535235553616204e+126">
              <a:srgbClr val="93A8D8">
                <a:alpha val="2.8e+12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Tavily + Serper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双源检索证据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6636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618714719645908e+111" dist="1.904678679911477e+111" dir="9.211413321697224e+130">
              <a:srgbClr val="93A8D8">
                <a:alpha val="2.8e+134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大模型基于证据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生成结构化定义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5119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675767693950304e+115" dist="2.418941923487576e+115" dir="5.526847993018334e+135">
              <a:srgbClr val="93A8D8">
                <a:alpha val="2.8e+139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能力项证据校验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置信度评估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8291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2980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288224971316886e+120" dist="3.0720562428292216e+119" dir="3.3161087958110005e+140">
              <a:srgbClr val="93A8D8">
                <a:alpha val="2.7999999999999997e+14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 · 全景图谱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琥珀高亮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2926080"/>
            <a:ext cx="111556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5606045713572446e+124" dist="3.9015114283931116e+123" dir="1.9896652774866004e+145">
              <a:srgbClr val="93A8D8">
                <a:alpha val="2.8e+149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生成的岗位定义包含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97180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6" name="Text 24"/>
          <p:cNvSpPr/>
          <p:nvPr/>
        </p:nvSpPr>
        <p:spPr>
          <a:xfrm>
            <a:off x="297180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核心职责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6636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8" name="Text 26"/>
          <p:cNvSpPr/>
          <p:nvPr/>
        </p:nvSpPr>
        <p:spPr>
          <a:xfrm>
            <a:off x="516636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36092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0" name="Text 28"/>
          <p:cNvSpPr/>
          <p:nvPr/>
        </p:nvSpPr>
        <p:spPr>
          <a:xfrm>
            <a:off x="736092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55548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2" name="Text 30"/>
          <p:cNvSpPr/>
          <p:nvPr/>
        </p:nvSpPr>
        <p:spPr>
          <a:xfrm>
            <a:off x="955548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典型行业应用场景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" y="429768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示例｜AI智能体开发工程师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必备技能：Python · PyTorch · 智能体 · 模型微调 · 向量数据库 · Docker · 分布式系统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典型场景：智能对话与客服机器人 · 智能推荐 · 竞品分析与市场调研   （13 条多源证据 · 3 个独立来源交叉验证）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77240" y="5715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支持人工优化与动态更新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9819678056237005e+128" dist="4.954919514059251e+127" dir="1.1937991664919603e+150">
              <a:srgbClr val="93A8D8">
                <a:alpha val="2.8e+1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既有岗位能力动态更新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用最新 JD 驱动既有岗位能力演化，自动标注变更并溯源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170991131420998e+132" dist="6.2927477828552495e+131" dir="7.162794998951762e+154">
              <a:srgbClr val="93A8D8">
                <a:alpha val="2.8e+15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5564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5564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Add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识别新出现且经交叉验证的能力项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14600" y="21945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Java 工程师新增「大语言模型应用 / RAG / 容器化部署」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97180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1967158736904667e+136" dist="7.991789684226167e+135" dir="4.297676999371057e+159">
              <a:srgbClr val="93A8D8">
                <a:alpha val="2.8e+16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26440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43F5E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26440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Delete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14600" y="322783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近期数据不再要求的过时能力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14600" y="37033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 deprecated，保留历史版本可追溯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48056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0598291595868925e+140" dist="1.0149572898967231e+140" dir="2.5786061996226343e+164">
              <a:srgbClr val="93A8D8">
                <a:alpha val="2.8e+16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77316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77316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Modify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14600" y="473659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重要度（必备↔加分）或权重显著变化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514600" y="52120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反映市场需求热度的上升或下降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每条变更均附「更新说明 + 数据源 + 置信度」，岗位版本号自增，前端时间线可视化展示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5.155983032675354e+144" dist="1.2889957581688384e+144" dir="1.5471637197735807e+169">
              <a:srgbClr val="93A8D8">
                <a:alpha val="2.8000000000000004e+17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人岗匹配诊断与差距分析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→ 多维匹配 → 差距诊断 → 学习路径 + 改进建议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04088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548098451497699e+148" dist="1.6370246128744248e+148" dir="9.282982318641485e+173">
              <a:srgbClr val="93A8D8">
                <a:alpha val="2.8000000000000006e+179"/>
              </a:srgbClr>
            </a:outerShdw>
          </a:effectLst>
        </p:spPr>
      </p:sp>
      <p:pic>
        <p:nvPicPr>
          <p:cNvPr id="8" name="Image 0" descr="03_人岗匹配诊断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676656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26680" y="1417320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316085033402078e+152" dist="2.0790212583505195e+152" dir="5.569789391184891e+178">
              <a:srgbClr val="93A8D8">
                <a:alpha val="2.8000000000000007e+184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09560" y="15270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909560" y="1837944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/ Word / 文本，提取召回 100%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26680" y="2386584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56142799242064e+157" dist="2.64035699810516e+156" dir="3.3418736347109347e+183">
              <a:srgbClr val="93A8D8">
                <a:alpha val="2.8000000000000006e+189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909560" y="24963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多维度匹配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909560" y="28072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必备覆盖 · 加分覆盖 · 级别 · 领域相关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26680" y="3355848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413013550374212e+161" dist="3.353253387593553e+160" dir="2.0051241808265608e+188">
              <a:srgbClr val="93A8D8">
                <a:alpha val="2.8000000000000004e+194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34655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差距分析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909560" y="3776472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已具备 vs 能力缺口，清晰可视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4325112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703452720897525e+165" dist="4.2586318022438123e+164" dir="1.2030745084959364e+193">
              <a:srgbClr val="93A8D8">
                <a:alpha val="2.8000000000000005e+199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90956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909560" y="4745736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按技能先修关系拓扑排序分步规划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726680" y="5294376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1633849555398568e+169" dist="5.408462388849642e+168" dir="7.218447050975619e+197">
              <a:srgbClr val="93A8D8">
                <a:alpha val="2.800000000000001e+204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909560" y="540410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改进建议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909560" y="5715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大模型生成资源方向与达标周期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7474988935356184e+173" dist="6.868747233839046e+172" dir="4.3310682305853715e+202">
              <a:srgbClr val="93A8D8">
                <a:alpha val="2.800000000000001e+20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创新① 多源异构数据清洗与交叉验证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解决招聘数据的 时滞 / 噪音 / 抄袭 / 通胀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893235947902355e+177" dist="8.723308986975589e+176" dir="2.598640938351223e+207">
              <a:srgbClr val="93A8D8">
                <a:alpha val="2.8000000000000007e+214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 / 重复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64位 SimHash 海明距离 + 精确哈希近似去重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8/8 抄袭样本检出，排除出交叉验证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431440965383599e+181" dist="1.1078602413458997e+181" dir="1.5591845630107338e+212">
              <a:srgbClr val="93A8D8">
                <a:alpha val="2.8000000000000008e+219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能力通胀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技能数远超中位数 + 非共识技能占比高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17/17 通胀样本检出，噪声技能被过滤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62793002603717e+185" dist="1.4069825065092926e+185" dir="9.355107378064403e+216">
              <a:srgbClr val="93A8D8">
                <a:alpha val="2.800000000000001e+22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 Lag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发布时间衰减，新鲜度指数加权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旧数据降权，半衰期 180 天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147471133067207e+189" dist="1.7868677832668018e+189" dir="5.613064426838642e+221">
              <a:srgbClr val="93A8D8">
                <a:alpha val="2.800000000000001e+229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噪音 Noise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同义词归一化 + 后缀裁剪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"微服务架构"→"微服务"，合并碎片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9.077288338995353e+193" dist="2.2693220847488382e+193" dir="3.367838656103185e+226">
              <a:srgbClr val="93A8D8">
                <a:alpha val="2.800000000000001e+2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创新② 能力"幻觉"防控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只有被多源交叉验证的能力才高置信进入图谱，且可溯源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155680" cy="86868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.1528156190524098e+198" dist="2.8820390476310245e+197" dir="2.020703193661911e+231">
              <a:srgbClr val="93A8D8">
                <a:alpha val="2.800000000000001e+23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417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 = σ( 2.4·支持率 + 0.45·独立来源数 + 0.6·新鲜度 + 1.1·外部证据 − 1.7 )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640758361965605e+202" dist="3.6601895904914013e+201" dir="1.2124219161971466e+236">
              <a:srgbClr val="93A8D8">
                <a:alpha val="2.800000000000001e+24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852928"/>
            <a:ext cx="411480" cy="4114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52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697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交叉验证门槛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2697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必备技能要求 ≥2 个独立非重复来源，否则自动降级为加分技能 —— 防止单源臆造被定义为"必备"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593763119696318e+206" dist="4.648440779924079e+205" dir="7.27453149718288e+240">
              <a:srgbClr val="93A8D8">
                <a:alpha val="2.800000000000001e+24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995928"/>
            <a:ext cx="411480" cy="41148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95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置信度过滤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低于阈值（0.45）的能力项标记为候选，不进入正式图谱 —— 过滤潜在幻觉 / 噪音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614079162014322e+210" dist="5.9035197905035806e+209" dir="4.364718898309728e+245">
              <a:srgbClr val="93A8D8">
                <a:alpha val="2.800000000000001e+254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38928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38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983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证据溯源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4983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每个能力项保留多条证据（JD 片段 / 外部链接），前端可逐项展开追溯 —— 可解释、可审计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080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嵌入模型退化守卫：识别中文向量模型对英文token的退化，语义匹配分类准确率 86.9% → 100%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9989880535758187e+214" dist="7.497470133939547e+213" dir="2.6188313389858368e+250">
              <a:srgbClr val="93A8D8">
                <a:alpha val="2.8000000000000008e+25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完整测试方案（379 条 JD）· 三项核心指标全部超过 90%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80871482804129e+218" dist="9.521787070103225e+217" dir="1.571298803391502e+255">
              <a:srgbClr val="93A8D8">
                <a:alpha val="2.800000000000001e+26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98.2%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解析准确率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371 条非重复 JD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8370678316124384e+222" dist="1.2092669579031096e+222" dir="9.427792820349012e+259">
              <a:srgbClr val="93A8D8">
                <a:alpha val="2.800000000000001e+269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4340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96.5%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34340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简历提取准确率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召回 100%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4340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143076146147797e+226" dist="1.5357690365369493e+226" dir="5.656675692209407e+264">
              <a:srgbClr val="93A8D8">
                <a:alpha val="2.800000000000001e+274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13816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13816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人岗匹配准确率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3816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必备技能判定分类准确率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3816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801706705607703e+230" dist="1.950426676401926e+230" dir="3.3940054153256444e+269">
              <a:srgbClr val="93A8D8">
                <a:alpha val="2.8000000000000007e+279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8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864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抄袭检出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8328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908167516121783e+234" dist="2.4770418790304458e+234" dir="2.0364032491953868e+274">
              <a:srgbClr val="93A8D8">
                <a:alpha val="2.8000000000000006e+284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8328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38328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通胀检出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583372745474664e+239" dist="3.145843186368666e+238" dir="1.221841949517232e+279">
              <a:srgbClr val="93A8D8">
                <a:alpha val="2.8000000000000008e+289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1792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66%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21792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单元测试覆盖率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5256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5980883386752823e+243" dist="3.995220846688206e+242" dir="7.331051697103393e+283">
              <a:srgbClr val="93A8D8">
                <a:alpha val="2.800000000000001e+294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05256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05256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测试用例全通过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测试数据与评测脚本可一键复现：generate_dataset → run_pipeline → evaluate all → pytest --cov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0295721901176086e+247" dist="5.0739304752940216e+246" dir="4.3986310182620354e+288">
              <a:srgbClr val="93A8D8">
                <a:alpha val="2.800000000000001e+29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工程化部署与价值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轻量部署 · 已稳定上线 · 可迁移可进化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77556681449363e+251" dist="6.443891703623408e+250" dir="2.6391786109572213e+293">
              <a:srgbClr val="93A8D8">
                <a:alpha val="2.8000000000000006e+30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轻量化部署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后端单进程同端口托管前端，常驻内存约 80MB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systemd 内存上限 420MB 保护小内存服务器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提供 Dockerfile / docker-compose 容器化部署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已上线：http://101.200.184.201:8200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273496985440691e+255" dist="8.183742463601727e+254" dir="1.5835071665743328e+298">
              <a:srgbClr val="93A8D8">
                <a:alpha val="Infinity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实用价值与可迁移性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全流程闭环，有效解决企业招聘与人岗匹配痛点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技术方案与岗位无关，可迁移至医疗/金融/制造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数据合规：简历个人信息不留存，能力项可溯源审计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可对接企业人才盘点与培训体系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86200"/>
            <a:ext cx="11155680" cy="2240280"/>
          </a:xfrm>
          <a:prstGeom prst="roundRect">
            <a:avLst>
              <a:gd name="adj" fmla="val 4898"/>
            </a:avLst>
          </a:prstGeom>
          <a:solidFill>
            <a:srgbClr val="6366F1"/>
          </a:solidFill>
          <a:ln/>
          <a:effectLst>
            <a:outerShdw sx="100000" sy="100000" kx="0" ky="0" algn="bl" rotWithShape="0" blurRad="4.1573411715096775e+259" dist="1.0393352928774194e+259" dir="9.501042999445996e+302">
              <a:srgbClr val="93A8D8">
                <a:alpha val="Infinity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420624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让人才与岗位，精准相遇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" y="4937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 ·  多源交叉验证  ·  反幻觉防控  ·  数据合规  ·  动态演化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544068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在线体验：http://101.200.184.201:8200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智岗图谱 作品介绍</dc:title>
  <dc:subject>PptxGenJS Presentation</dc:subject>
  <dc:creator>TalentGraph AI</dc:creator>
  <cp:lastModifiedBy>TalentGraph AI</cp:lastModifiedBy>
  <cp:revision>1</cp:revision>
  <dcterms:created xsi:type="dcterms:W3CDTF">2026-06-24T19:09:23Z</dcterms:created>
  <dcterms:modified xsi:type="dcterms:W3CDTF">2026-06-24T19:09:23Z</dcterms:modified>
</cp:coreProperties>
</file>