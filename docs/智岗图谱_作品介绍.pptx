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52400" dist="38100" dir="5400000">
              <a:srgbClr val="9C93C8">
                <a:alpha val="24000"/>
              </a:srgbClr>
            </a:outerShdw>
          </a:effectLst>
        </p:spPr>
      </p:sp>
      <p:pic>
        <p:nvPicPr>
          <p:cNvPr id="4" name="Image 0" descr="C:\Users\32768\Desktop\project\挑战杯\talent-graph-system\docs\ppt_build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4BD8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C93C8">
                <a:alpha val="24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4BD8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C93C8">
                <a:alpha val="24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4BD8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C93C8">
                <a:alpha val="24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4BD8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C93C8">
                <a:alpha val="2.4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4BD8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C93C8">
                <a:alpha val="2.4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6.394510321986036e+29" dist="1.598627580496509e+29" dir="2.519424e+35">
              <a:srgbClr val="9C93C8">
                <a:alpha val="2.4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C93C8">
                <a:alpha val="2.3999999999999998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719072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BE123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71907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75888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C93C8">
                <a:alpha val="2.3999999999999997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719072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16207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71907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75888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C93C8">
                <a:alpha val="2.4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719072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B02AA8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71907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75888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C93C8">
                <a:alpha val="2.4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C93C8">
                <a:alpha val="2.4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C93C8">
                <a:alpha val="2.4000000000000003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C93C8">
                <a:alpha val="2.4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2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C93C8">
                <a:alpha val="2.4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C93C8">
                <a:alpha val="2.4000000000000002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C93C8">
                <a:alpha val="2.4000000000000004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11480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502920" y="475488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岗位（新兴6）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734056" y="411480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3952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2734056" y="475488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技能（含3816技能点）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965192" y="411480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3090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4965192" y="475488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196328" y="411480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12277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196328" y="475488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427464" y="411480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0.5502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427464" y="475488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岗位置信度均值（2026-08-30 口径）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C93C8">
                <a:alpha val="2.4000000000000003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真实数据采集、证据与治理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六类分发渠道累计 3090 条真实 JD · 有效 2860 / 重复 230 · 原始台账全程可溯源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53312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C93C8">
                <a:alpha val="2.4000000000000002e+9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53619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F4BD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361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飞书 ATS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11680" y="14721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774 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19751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企业官网公开职位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069080" y="1353312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C93C8">
                <a:alpha val="2.4e+99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53619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15361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国聘网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577840" y="14721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671 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51960" y="19751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国家级公共招聘平台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432304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C93C8">
                <a:alpha val="2.4e+10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261518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B02AA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61518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前程无忧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255117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2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历史公开数据集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2432304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C93C8">
                <a:alpha val="2.4e+109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251960" y="261518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/>
        </p:spPr>
      </p:sp>
      <p:sp>
        <p:nvSpPr>
          <p:cNvPr id="24" name="Text 22"/>
          <p:cNvSpPr/>
          <p:nvPr/>
        </p:nvSpPr>
        <p:spPr>
          <a:xfrm>
            <a:off x="4251960" y="261518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AIJob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577840" y="255117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251960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公开数据集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511296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C93C8">
                <a:alpha val="2.3999999999999998e+114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369417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A16207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36941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腾讯招聘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011680" y="363016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1620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272 条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85800" y="41330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企业官网公开接口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69080" y="3511296"/>
            <a:ext cx="333756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3.7193799790595354e+99" dist="9.298449947648839e+98" dir="4.2645432044894554e+116">
              <a:srgbClr val="9C93C8">
                <a:alpha val="2.3999999999999997e+119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251960" y="369417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BE123C"/>
          </a:solidFill>
          <a:ln/>
        </p:spPr>
      </p:sp>
      <p:sp>
        <p:nvSpPr>
          <p:cNvPr id="34" name="Text 32"/>
          <p:cNvSpPr/>
          <p:nvPr/>
        </p:nvSpPr>
        <p:spPr>
          <a:xfrm>
            <a:off x="4251960" y="36941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网易招聘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577840" y="363016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E1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253 条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251960" y="41330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企业官网公开接口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635240" y="1353312"/>
            <a:ext cx="4023360" cy="3090672"/>
          </a:xfrm>
          <a:prstGeom prst="roundRect">
            <a:avLst>
              <a:gd name="adj" fmla="val 2959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C93C8">
                <a:alpha val="2.3999999999999996e+124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90956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代码级采集护栏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909560" y="1938528"/>
            <a:ext cx="3429000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robots.txt 检查 + 单站 ≥4 秒控频</a:t>
            </a:r>
            <a:endParaRPr lang="en-US" sz="1150" dirty="0"/>
          </a:p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不携带登录态，只采公开数据</a:t>
            </a:r>
            <a:endParaRPr lang="en-US" sz="1150" dirty="0"/>
          </a:p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PII 双保险：字段拦截 + 正则打码</a:t>
            </a:r>
            <a:endParaRPr lang="en-US" sz="1150" dirty="0"/>
          </a:p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每次请求写入采集台账日志</a:t>
            </a:r>
            <a:endParaRPr lang="en-US" sz="1150" dirty="0"/>
          </a:p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jsonl 原始留存 + RawJD 溯源</a:t>
            </a:r>
            <a:endParaRPr lang="en-US" sz="1150" dirty="0"/>
          </a:p>
          <a:p>
            <a:pPr indent="0" marL="0">
              <a:spcAft>
                <a:spcPts val="1700"/>
              </a:spcAft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SimHash 检出 166 条重复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4617720"/>
            <a:ext cx="11155680" cy="502920"/>
          </a:xfrm>
          <a:prstGeom prst="rect">
            <a:avLst/>
          </a:prstGeom>
          <a:solidFill>
            <a:srgbClr val="E8F7F2"/>
          </a:solidFill>
          <a:ln w="12700">
            <a:solidFill>
              <a:srgbClr val="BDE8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AuthorityEvidence 21 条 · 覆盖 19 / 32 岗 · 6 / 6 新兴岗位全覆盖（8 条）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02920" y="5257800"/>
            <a:ext cx="111556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D8D0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雇主识别 87.56%（2105 / 2404，页面显示 88%） · 独立来源按独立雇主实体归一化，同雇主跨渠道分发只计 1 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58521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RoleContract ready 6 / 32（18.75%）｜对完整证据图投影 8–12 个同粒度能力簇；未 ready 表示证据不足，不代表岗位不可用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5.998987968225125e+107" dist="1.499746992056281e+107" dir="1.535235553616204e+126">
              <a:srgbClr val="9C93C8">
                <a:alpha val="2.3999999999999996e+12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C93C8">
                <a:alpha val="2.3999999999999997e+134"/>
              </a:srgbClr>
            </a:outerShdw>
          </a:effectLst>
        </p:spPr>
      </p:sp>
      <p:pic>
        <p:nvPicPr>
          <p:cNvPr id="8" name="Image 0" descr="C:\Users\32768\Desktop\project\挑战杯\talent-graph-system\docs\截图\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C93C8">
                <a:alpha val="2.3999999999999995e+13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F4BD8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C93C8">
                <a:alpha val="2.3999999999999997e+14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5606045713572446e+124" dist="3.9015114283931116e+123" dir="1.9896652774866004e+145">
              <a:srgbClr val="9C93C8">
                <a:alpha val="2.3999999999999997e+14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B02AA8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9819678056237005e+128" dist="4.954919514059251e+127" dir="1.1937991664919603e+150">
              <a:srgbClr val="9C93C8">
                <a:alpha val="2.3999999999999996e+15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47857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2.5170991131420998e+132" dist="6.2927477828552495e+131" dir="7.162794998951762e+154">
              <a:srgbClr val="9C93C8">
                <a:alpha val="2.3999999999999996e+15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04825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C93C8">
                <a:alpha val="2.3999999999999996e+16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9496" y="1463040"/>
            <a:ext cx="19751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28316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79776" y="1463040"/>
            <a:ext cx="204825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C93C8">
                <a:alpha val="2.3999999999999995e+16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16352" y="1463040"/>
            <a:ext cx="19751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51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56632" y="1463040"/>
            <a:ext cx="204825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5.155983032675354e+144" dist="1.2889957581688384e+144" dir="1.5471637197735807e+169">
              <a:srgbClr val="9C93C8">
                <a:alpha val="2.3999999999999994e+17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93208" y="1463040"/>
            <a:ext cx="19751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082028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33488" y="1463040"/>
            <a:ext cx="204825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C93C8">
                <a:alpha val="2.3999999999999993e+17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70064" y="1463040"/>
            <a:ext cx="19751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58884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10344" y="1463040"/>
            <a:ext cx="2048256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8.316085033402078e+152" dist="2.0790212583505195e+152" dir="5.569789391184891e+178">
              <a:srgbClr val="9C93C8">
                <a:alpha val="2.3999999999999992e+18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46920" y="1463040"/>
            <a:ext cx="19751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C93C8">
                <a:alpha val="2.399999999999999e+18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260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74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2237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2237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3726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3726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竞品分析与市场调研；证据可下钻至真实 JD，并按独立雇主实体交叉验证（同雇主跨渠道去重）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6 / 6 新兴岗位权威佐证全覆盖（共 8 条）；全库 21 条 AuthorityEvidence 覆盖 19 岗，均保留来源快照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1.3413013550374212e+161" dist="3.353253387593553e+160" dir="2.0051241808265608e+188">
              <a:srgbClr val="9C93C8">
                <a:alpha val="2.399999999999999e+19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 → 2026 现网真实 JD 驱动演化 · 621 条：新增 367 / 删除 143 / 修改 111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C93C8">
                <a:alpha val="2.399999999999999e+19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04785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1633849555398568e+169" dist="5.408462388849642e+168" dir="7.218447050975619e+197">
              <a:srgbClr val="9C93C8">
                <a:alpha val="2.3999999999999989e+20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BE123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7474988935356184e+173" dist="6.868747233839046e+172" dir="4.3310682305853715e+202">
              <a:srgbClr val="9C93C8">
                <a:alpha val="2.399999999999999e+20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A16207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01675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3.4893235947902355e+177" dist="8.723308986975589e+176" dir="2.598640938351223e+207">
              <a:srgbClr val="9C93C8">
                <a:alpha val="2.3999999999999986e+21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分级画像 · 初/中/高晋升路径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828 行覆盖 27 / 32 岗 · 越界 0 / 828 · 无画像 5 岗：机器人算法、自动驾驶、数字人训练师、提示词、智能硬件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C93C8">
                <a:alpha val="2.3999999999999988e+21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初级 Junior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0-3 年 · 基础技术栈与工程规范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20574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C93C8">
                <a:alpha val="2.3999999999999988e+2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F4BD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中级 Middle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 年 · 独立负责模块与核心技能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0574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388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7.147471133067207e+189" dist="1.7868677832668018e+189" dir="5.613064426838642e+221">
              <a:srgbClr val="9C93C8">
                <a:alpha val="2.3999999999999987e+22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B02AA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 Senior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年以上 · 架构能力与技术引领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593592"/>
            <a:ext cx="11155680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9.077288338995353e+193" dist="2.2693220847488382e+193" dir="3.367838656103185e+226">
              <a:srgbClr val="9C93C8">
                <a:alpha val="2.3999999999999987e+23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77647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晋升 diff（复用演化引擎的级别差异计算）｜示例：AI智能体开发工程师 中级 → 高级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33672"/>
            <a:ext cx="106070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新增掌握：对比相邻等级画像，列出晋升需补齐的 active 能力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要求强化：同一能力在目标等级中的权重上调，形成优先级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默认前提：部分基础能力在高级 JD 中不再单列，但不误判为删除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画像写入严格与岗位 active 能力集相交，当前 828 / 828 均在边界内；真实分桶不达门槛的 5 岗不生成画像、不以旧切片填充。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1.1528156190524098e+198" dist="2.8820390476310245e+197" dir="2.020703193661911e+231">
              <a:srgbClr val="9C93C8">
                <a:alpha val="2.3999999999999985e+23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C93C8">
                <a:alpha val="2.3999999999999984e+244"/>
              </a:srgbClr>
            </a:outerShdw>
          </a:effectLst>
        </p:spPr>
      </p:sp>
      <p:pic>
        <p:nvPicPr>
          <p:cNvPr id="8" name="Image 0" descr="C:\Users\32768\Desktop\project\挑战杯\talent-graph-system\docs\截图\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C93C8">
                <a:alpha val="2.3999999999999982e+249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C93C8">
                <a:alpha val="2.3999999999999983e+25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9989880535758187e+214" dist="7.497470133939547e+213" dir="2.6188313389858368e+250">
              <a:srgbClr val="9C93C8">
                <a:alpha val="2.3999999999999983e+259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3.80871482804129e+218" dist="9.521787070103225e+217" dir="1.571298803391502e+255">
              <a:srgbClr val="9C93C8">
                <a:alpha val="2.399999999999998e+264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C93C8">
                <a:alpha val="2.3999999999999982e+26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6.143076146147797e+226" dist="1.5357690365369493e+226" dir="5.656675692209407e+264">
              <a:srgbClr val="9C93C8">
                <a:alpha val="2.399999999999998e+27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C93C8">
                <a:alpha val="2.399999999999998e+27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BE123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C93C8">
                <a:alpha val="2.399999999999998e+28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1620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17/17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2583372745474664e+239" dist="3.145843186368666e+238" dir="1.221841949517232e+279">
              <a:srgbClr val="9C93C8">
                <a:alpha val="2.399999999999998e+28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5980883386752823e+243" dist="3.995220846688206e+242" dir="7.331051697103393e+283">
              <a:srgbClr val="9C93C8">
                <a:alpha val="2.399999999999998e+29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B02AA8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2.0295721901176086e+247" dist="5.0739304752940216e+246" dir="4.3986310182620354e+288">
              <a:srgbClr val="9C93C8">
                <a:alpha val="2.399999999999998e+29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2.577556681449363e+251" dist="6.443891703623408e+250" dir="2.6391786109572213e+293">
              <a:srgbClr val="9C93C8">
                <a:alpha val="2.399999999999998e+30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0.35·支持率 + 0.20·来源多样性 + 0.15·时效性 + 0.20·来源权威度 + 0.10·外部验证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C93C8">
                <a:alpha val="Infinity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3F4BD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个独立雇主实体支持；同雇主跨分发渠道去重 —— 防止转载被误当成多源共识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1573411715096775e+259" dist="1.0393352928774194e+259" dir="9.501042999445996e+302">
              <a:srgbClr val="9C93C8">
                <a:alpha val="Infinity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不满足交叉验证门槛的能力项标记为 candidate，不进入 RoleContract 与主匹配视图 —— 保留证据但不放大噪音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5.27982328781729e+263" dist="1.3199558219543225e+263" dir="5.700625799667598e+307">
              <a:srgbClr val="9C93C8">
                <a:alpha val="Infinity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04785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2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6.705375575527958e+267" dist="1.6763438938819895e+267" dir="Infinity">
              <a:srgbClr val="9C93C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统一置信度公式 · 每一分都可解释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五因子线性加权（services/confidence.py 全系统唯一）· 因子逐项落库 · 前端点击徽章可见分解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8.515826980920506e+271" dist="2.1289567452301266e+271" dir="Infinity">
              <a:srgbClr val="9C93C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支持率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12648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提及技能的独立 JD 数 ÷ 有效 JD 总数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0632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0815100265769043e+276" dist="2.7037750664422608e+275" dir="Infinity">
              <a:srgbClr val="9C93C8">
                <a:alpha val="Infinity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70632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70632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来源多样性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80360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独立雇主实体数 ÷ 3 封顶（同雇主跨渠道去重）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8344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3735177337526685e+280" dist="3.433794334381671e+279" dir="Infinity">
              <a:srgbClr val="9C93C8">
                <a:alpha val="Infinity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38344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38344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48072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新鲜度均值，指数衰减半衰期 180 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06056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1.744367521865889e+284" dist="4.360918804664722e+283" dir="Infinity">
              <a:srgbClr val="9C93C8">
                <a:alpha val="Infinity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06056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2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06056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来源权威度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15784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官网/政府 1.0 · 数据集 0.7 · 网络 0.6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573768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2153467527696788e+288" dist="5.538366881924197e+287" dir="Infinity">
              <a:srgbClr val="9C93C8">
                <a:alpha val="Infinity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573768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1620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573768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83496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联网检索 / 权威文件佐证记 1，否则 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703320"/>
            <a:ext cx="11155680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2.8134903760174922e+292" dist="7.033725940043731e+291" dir="Infinity">
              <a:srgbClr val="9C93C8">
                <a:alpha val="Infinity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3858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算例（口径演示）｜技能「大语言模型」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2611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9/13 条有效 JD 提及（支持率 0.69）· 2 个独立雇主实体（多样性 0.67）· 平均新鲜度 0.88 · 全部企业官网（权威度 1.0）· 暂无外部验证（0）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681728"/>
            <a:ext cx="10607040" cy="548640"/>
          </a:xfrm>
          <a:prstGeom prst="rect">
            <a:avLst/>
          </a:prstGeom>
          <a:solidFill>
            <a:srgbClr val="E0F2F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0.35×0.69 + 0.20×0.67 + 0.15×0.88 + 0.20×1.0 + 0.10×0 ≈ 0.71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5522976"/>
            <a:ext cx="11155680" cy="786384"/>
          </a:xfrm>
          <a:prstGeom prst="rect">
            <a:avLst/>
          </a:prstGeom>
          <a:solidFill>
            <a:srgbClr val="EDE9FE"/>
          </a:solidFill>
          <a:ln w="12700">
            <a:solidFill>
              <a:srgbClr val="D8D0F5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R6 最终（补齐「必备能力 ≥2 个独立雇主」闸门后）：active 812 / candidate 3604 / deprecated 1231 —— 48 条仅 0–1 个独立雇主支撑的历史遗留行被降级为 candidate，证据链完整保留，这正是闸门在生效。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全库均值 0.5502（2026-08-30 口径；含时效性因子，约 -0.0003/天 自然衰减，每日 02:30 批算重跑）（既有 0.5271 / 新兴 0.6507）：均值上移源于最低置信度的那批行被移出 active，并非单条能力项的置信度提高。早期材料 0.6167 / 0.5613 / 0.4783 为历史快照。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3.573132777542215e+296" dist="8.932831943855538e+295" dir="Infinity">
              <a:srgbClr val="9C93C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双轨数据集（对抗基准 379 条 + 真实语料 3090 条）·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4.537878627478613e+300" dist="1.1344696568696533e+300" dir="Infinity">
              <a:srgbClr val="9C93C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19072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98.25%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14553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371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38144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20540" y="146304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5.763105856897839e+304" dist="1.4407764642244596e+304" dir="Infinity">
              <a:srgbClr val="9C93C8">
                <a:alpha val="Infinity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20540" y="1719072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96.49%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20540" y="2724912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20540" y="314553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20540" y="3438144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92440" y="146304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92440" y="1719072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092440" y="2724912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92440" y="314553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92440" y="3438144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26289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251960"/>
            <a:ext cx="26289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92040"/>
            <a:ext cx="2628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60420" y="4069080"/>
            <a:ext cx="26289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60420" y="4251960"/>
            <a:ext cx="26289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60420" y="4892040"/>
            <a:ext cx="2628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4069080"/>
            <a:ext cx="26289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72200" y="4251960"/>
            <a:ext cx="26289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172200" y="4892040"/>
            <a:ext cx="2628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83980" y="4069080"/>
            <a:ext cx="26289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983980" y="4251960"/>
            <a:ext cx="26289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983980" y="4892040"/>
            <a:ext cx="2628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测试数据与评测脚本可一键复现：run_collect → import_raw → run_pipeline --from-db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4BD8"/>
          </a:solidFill>
          <a:ln/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4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4B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162MB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DFF1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数据合规：简历个人信息不留存，能力项可溯源审计</a:t>
            </a:r>
            <a:endParaRPr lang="en-US" sz="1250" dirty="0"/>
          </a:p>
          <a:p>
            <a:pPr indent="0" marL="0">
              <a:spcAft>
                <a:spcPts val="1500"/>
              </a:spcAft>
              <a:buNone/>
            </a:pPr>
            <a:r>
              <a:rPr lang="en-US" sz="1250" dirty="0">
                <a:solidFill>
                  <a:srgbClr val="626A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3F4BD8"/>
          </a:solidFill>
          <a:ln/>
          <a:effectLst>
            <a:outerShdw sx="100000" sy="100000" kx="0" ky="0" algn="bl" rotWithShape="0" blurRad="Infinity" dist="Infinity" dir="Infinity">
              <a:srgbClr val="9C93C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数据合规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D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2026-08-30T07:26:44Z</dcterms:created>
  <dcterms:modified xsi:type="dcterms:W3CDTF">2026-08-30T07:26:44Z</dcterms:modified>
</cp:coreProperties>
</file>