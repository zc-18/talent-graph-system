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91440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152400" dist="38100" dir="5400000">
              <a:srgbClr val="9C93C8">
                <a:alpha val="24000"/>
              </a:srgbClr>
            </a:outerShdw>
          </a:effectLst>
        </p:spPr>
      </p:sp>
      <p:pic>
        <p:nvPicPr>
          <p:cNvPr id="4" name="Image 0" descr="C:\Users\32768\Desktop\project\挑战杯\talent-graph-system\docs\ppt_build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969264"/>
            <a:ext cx="713232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8308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智岗图谱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801368" y="14813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TalentGraph AI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4688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多源异构数据驱动岗位和能力图谱构建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与动态演化分析系统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68680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 + 大模型 + 知识图谱 ·  可自我进化的"人才能力大脑"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470916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F4BD8"/>
            </a:solidFill>
            <a:prstDash val="solid"/>
          </a:ln>
          <a:effectLst>
            <a:outerShdw sx="100000" sy="100000" kx="0" ky="0" algn="bl" rotWithShape="0" blurRad="1935480000" dist="483870000" dir="324000000000">
              <a:srgbClr val="9C93C8">
                <a:alpha val="24000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4709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新岗位发现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843784" y="470916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F4BD8"/>
            </a:solidFill>
            <a:prstDash val="solid"/>
          </a:ln>
          <a:effectLst>
            <a:outerShdw sx="100000" sy="100000" kx="0" ky="0" algn="bl" rotWithShape="0" blurRad="24580596000000" dist="6145149000000" dir="19440000000000000">
              <a:srgbClr val="9C93C8">
                <a:alpha val="2400000000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843784" y="4709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能力动态演化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818888" y="470916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F4BD8"/>
            </a:solidFill>
            <a:prstDash val="solid"/>
          </a:ln>
          <a:effectLst>
            <a:outerShdw sx="100000" sy="100000" kx="0" ky="0" algn="bl" rotWithShape="0" blurRad="312173569200000000" dist="78043392300000000" dir="1.1664e+21">
              <a:srgbClr val="9C93C8">
                <a:alpha val="240000000000000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818888" y="4709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全景能力图谱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793992" y="470916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F4BD8"/>
            </a:solidFill>
            <a:prstDash val="solid"/>
          </a:ln>
          <a:effectLst>
            <a:outerShdw sx="100000" sy="100000" kx="0" ky="0" algn="bl" rotWithShape="0" blurRad="3.96460432884e+21" dist="991151082210000000000" dir="6.9984e+25">
              <a:srgbClr val="9C93C8">
                <a:alpha val="2.4e+24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793992" y="4709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人岗匹配诊断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769096" y="470916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F4BD8"/>
            </a:solidFill>
            <a:prstDash val="solid"/>
          </a:ln>
          <a:effectLst>
            <a:outerShdw sx="100000" sy="100000" kx="0" ky="0" algn="bl" rotWithShape="0" blurRad="5.0350474976268e+25" dist="1.2587618744067e+25" dir="4.19904e+30">
              <a:srgbClr val="9C93C8">
                <a:alpha val="2.4e+29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769096" y="4709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反幻觉防控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6868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题目编号 XH-202621  |  发榜单位：科大讯飞股份有限公司  |  在线系统：http://101.200.184.201:8200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3F4BD8"/>
          </a:solidFill>
          <a:ln/>
          <a:effectLst>
            <a:outerShdw sx="100000" sy="100000" kx="0" ky="0" algn="bl" rotWithShape="0" blurRad="6.394510321986036e+29" dist="1.598627580496509e+29" dir="2.519424e+35">
              <a:srgbClr val="9C93C8">
                <a:alpha val="2.4e+34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背景与痛点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25296" y="8686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数字经济时代的人才"结构性矛盾"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57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智岗图谱 · TalentGraph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52044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8.121028108922265e+33" dist="2.0302570272305663e+33" dir="1.5116544e+40">
              <a:srgbClr val="9C93C8">
                <a:alpha val="2.3999999999999998e+3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719072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BE123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190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企业侧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09067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招不到合适的人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3675888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新兴岗位识别难、人岗匹配度低，招聘与培养成本居高不下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43400" y="1417320"/>
            <a:ext cx="352044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1.0313705698331276e+38" dist="2.578426424582819e+37" dir="9.069926400000001e+44">
              <a:srgbClr val="9C93C8">
                <a:alpha val="2.3999999999999997e+44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719072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A16207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7190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17720" y="2743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人才侧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17720" y="309067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看不清职业路径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17720" y="3675888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新兴领域青年技能需求动态性强，缺乏动态行业技能图谱指引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38160" y="1417320"/>
            <a:ext cx="352044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1.3098406236880721e+42" dist="3.2746015592201804e+41" dir="5.44195584e+49">
              <a:srgbClr val="9C93C8">
                <a:alpha val="2.4e+4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0" y="1719072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B02AA8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17190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412480" y="2743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方法侧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0" y="309067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感知不到趋势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412480" y="3675888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传统关键词匹配无法回答"技术A爆发会给岗位B带来哪些新技能"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solidFill>
            <a:srgbClr val="E0E9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数据难题：招聘 JD 普遍存在  时滞 · 噪音 · 抄袭 · 通胀；大模型生成能力定义易产生"幻觉"，不可信、不可溯源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http://101.200.184.201:8200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3F4BD8"/>
          </a:solidFill>
          <a:ln/>
          <a:effectLst>
            <a:outerShdw sx="100000" sy="100000" kx="0" ky="0" algn="bl" rotWithShape="0" blurRad="1.6634975920838516e+46" dist="4.158743980209629e+45" dir="3.2651735040000005e+54">
              <a:srgbClr val="9C93C8">
                <a:alpha val="2.4e+54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系统总览 · 全流程闭环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25296" y="8686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多源数据采集 → 图谱构建演化 → 匹配诊断的端到端闭环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57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智岗图谱 · TalentGraph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2.1126419419464913e+50" dist="5.281604854866228e+49" dir="1.9591041024000004e+59">
              <a:srgbClr val="9C93C8">
                <a:alpha val="2.4e+59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9659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072" y="239572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多源数据采集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招聘JD · 联网检索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30552" y="1828800"/>
            <a:ext cx="274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95728" y="182880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2.683055266272044e+54" dist="6.70763816568011e+53" dir="1.1754624614400003e+64">
              <a:srgbClr val="9C93C8">
                <a:alpha val="2.4000000000000003e+64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395728" y="19659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68880" y="239572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清洗·交叉验证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41448" y="29260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去抄袭/通胀/时滞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23360" y="1828800"/>
            <a:ext cx="274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88536" y="182880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3.4074801881654956e+58" dist="8.518700470413739e+57" dir="7.052774768640002e+68">
              <a:srgbClr val="9C93C8">
                <a:alpha val="2.4e+69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88536" y="19659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2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61688" y="239572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大模型抽取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34256" y="29260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结构化能力项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16168" y="1828800"/>
            <a:ext cx="274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81344" y="182880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4.32749983897018e+62" dist="1.081874959742545e+62" dir="4.2316648611840007e+73">
              <a:srgbClr val="9C93C8">
                <a:alpha val="2.4e+74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81344" y="19659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54496" y="239572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反幻觉聚合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27064" y="29260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 + 溯源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08976" y="1828800"/>
            <a:ext cx="274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74152" y="182880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5.495924795492128e+66" dist="1.373981198873032e+66" dir="2.5389989167104004e+78">
              <a:srgbClr val="9C93C8">
                <a:alpha val="2.4000000000000002e+79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074152" y="19659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47304" y="239572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图谱构建/演化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19872" y="29260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动态更新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701784" y="1828800"/>
            <a:ext cx="274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966960" y="182880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6.979824490275003e+70" dist="1.7449561225687507e+70" dir="1.5233993500262402e+83">
              <a:srgbClr val="9C93C8">
                <a:alpha val="2.4000000000000004e+84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966960" y="19659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040112" y="239572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匹配与诊断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012680" y="29260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差距 + 学习路径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4114800"/>
            <a:ext cx="22311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502920" y="475488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岗位（新兴6）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734056" y="4114800"/>
            <a:ext cx="22311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3952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2734056" y="475488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技能（含3816技能点）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965192" y="4114800"/>
            <a:ext cx="22311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2570</a:t>
            </a: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4965192" y="475488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真实岗位JD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196328" y="4114800"/>
            <a:ext cx="22311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9128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7196328" y="475488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JD溯源证据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427464" y="4114800"/>
            <a:ext cx="22311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0.5502</a:t>
            </a:r>
            <a:endParaRPr lang="en-US" sz="3200" dirty="0"/>
          </a:p>
        </p:txBody>
      </p:sp>
      <p:sp>
        <p:nvSpPr>
          <p:cNvPr id="45" name="Text 43"/>
          <p:cNvSpPr/>
          <p:nvPr/>
        </p:nvSpPr>
        <p:spPr>
          <a:xfrm>
            <a:off x="9427464" y="475488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岗位置信度均值（2026-08-30 口径）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F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技术栈：FastAPI · SQLAlchemy · DeepSeek 大模型 · BGE 向量 · Tavily + Serper 多源检索 · MySQL · React + ECharts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http://101.200.184.201:8200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3F4BD8"/>
          </a:solidFill>
          <a:ln/>
          <a:effectLst>
            <a:outerShdw sx="100000" sy="100000" kx="0" ky="0" algn="bl" rotWithShape="0" blurRad="8.864377102649254e+74" dist="2.2160942756623134e+74" dir="9.14039610015744e+87">
              <a:srgbClr val="9C93C8">
                <a:alpha val="2.4000000000000003e+89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真实数据采集、证据与治理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25296" y="8686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六类分发渠道累计 2570 条真实 JD · 有效 2404 / 重复 166 · 原始台账全程可溯源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57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智岗图谱 · TalentGraph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353312"/>
            <a:ext cx="33375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1.1257758920364552e+79" dist="2.814439730091138e+78" dir="5.484237660094465e+92">
              <a:srgbClr val="9C93C8">
                <a:alpha val="2.4000000000000002e+9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53619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3F4BD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3619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 ATS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011680" y="147218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774 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19751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企业官网公开职位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69080" y="1353312"/>
            <a:ext cx="33375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1.429735382886298e+83" dist="3.574338457215745e+82" dir="3.2905425960566786e+97">
              <a:srgbClr val="9C93C8">
                <a:alpha val="2.4e+9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153619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153619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国聘网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577840" y="147218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671 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251960" y="19751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国家级公共招聘平台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2432304"/>
            <a:ext cx="33375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1.8157639362655985e+87" dist="4.539409840663996e+86" dir="1.9743255576340073e+102">
              <a:srgbClr val="9C93C8">
                <a:alpha val="2.4e+104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2615184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B02AA8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61518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前程无忧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011680" y="255117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02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 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30540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2018 历史公开数据集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069080" y="2432304"/>
            <a:ext cx="33375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2.30602019905731e+91" dist="5.765050497643275e+90" dir="1.1845953345804043e+107">
              <a:srgbClr val="9C93C8">
                <a:alpha val="2.4e+109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51960" y="2615184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/>
        </p:spPr>
      </p:sp>
      <p:sp>
        <p:nvSpPr>
          <p:cNvPr id="24" name="Text 22"/>
          <p:cNvSpPr/>
          <p:nvPr/>
        </p:nvSpPr>
        <p:spPr>
          <a:xfrm>
            <a:off x="4251960" y="261518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AIJob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577840" y="255117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 条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251960" y="30540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公开数据集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3511296"/>
            <a:ext cx="33375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2.9286456528027836e+95" dist="7.321614132006959e+94" dir="7.107572007482426e+111">
              <a:srgbClr val="9C93C8">
                <a:alpha val="2.3999999999999998e+114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5800" y="3694176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A16207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369417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腾讯招聘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011680" y="363016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A162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272 条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85800" y="413308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企业官网公开接口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069080" y="3511296"/>
            <a:ext cx="333756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3.7193799790595354e+99" dist="9.298449947648839e+98" dir="4.2645432044894554e+116">
              <a:srgbClr val="9C93C8">
                <a:alpha val="2.3999999999999997e+119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251960" y="3694176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BE123C"/>
          </a:solidFill>
          <a:ln/>
        </p:spPr>
      </p:sp>
      <p:sp>
        <p:nvSpPr>
          <p:cNvPr id="34" name="Text 32"/>
          <p:cNvSpPr/>
          <p:nvPr/>
        </p:nvSpPr>
        <p:spPr>
          <a:xfrm>
            <a:off x="4251960" y="369417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网易招聘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577840" y="363016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E1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253 条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251960" y="413308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企业官网公开接口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635240" y="1353312"/>
            <a:ext cx="4023360" cy="3090672"/>
          </a:xfrm>
          <a:prstGeom prst="roundRect">
            <a:avLst>
              <a:gd name="adj" fmla="val 2959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4.72361257340561e+103" dist="1.1809031433514024e+103" dir="2.5587259226936733e+121">
              <a:srgbClr val="9C93C8">
                <a:alpha val="2.3999999999999996e+124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90956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代码级采集护栏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909560" y="1938528"/>
            <a:ext cx="342900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spcAft>
                <a:spcPts val="1700"/>
              </a:spcAft>
              <a:buNone/>
            </a:pPr>
            <a:r>
              <a:rPr lang="en-US" sz="11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robots.txt 检查 + 单站 ≥4 秒控频</a:t>
            </a:r>
            <a:endParaRPr lang="en-US" sz="1150" dirty="0"/>
          </a:p>
          <a:p>
            <a:pPr indent="0" marL="0">
              <a:spcAft>
                <a:spcPts val="1700"/>
              </a:spcAft>
              <a:buNone/>
            </a:pPr>
            <a:r>
              <a:rPr lang="en-US" sz="11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不携带登录态，只采公开数据</a:t>
            </a:r>
            <a:endParaRPr lang="en-US" sz="1150" dirty="0"/>
          </a:p>
          <a:p>
            <a:pPr indent="0" marL="0">
              <a:spcAft>
                <a:spcPts val="1700"/>
              </a:spcAft>
              <a:buNone/>
            </a:pPr>
            <a:r>
              <a:rPr lang="en-US" sz="11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PII 双保险：字段拦截 + 正则打码</a:t>
            </a:r>
            <a:endParaRPr lang="en-US" sz="1150" dirty="0"/>
          </a:p>
          <a:p>
            <a:pPr indent="0" marL="0">
              <a:spcAft>
                <a:spcPts val="1700"/>
              </a:spcAft>
              <a:buNone/>
            </a:pPr>
            <a:r>
              <a:rPr lang="en-US" sz="11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每次请求写入采集台账日志</a:t>
            </a:r>
            <a:endParaRPr lang="en-US" sz="1150" dirty="0"/>
          </a:p>
          <a:p>
            <a:pPr indent="0" marL="0">
              <a:spcAft>
                <a:spcPts val="1700"/>
              </a:spcAft>
              <a:buNone/>
            </a:pPr>
            <a:r>
              <a:rPr lang="en-US" sz="11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jsonl 原始留存 + RawJD 溯源</a:t>
            </a:r>
            <a:endParaRPr lang="en-US" sz="1150" dirty="0"/>
          </a:p>
          <a:p>
            <a:pPr indent="0" marL="0">
              <a:spcAft>
                <a:spcPts val="1700"/>
              </a:spcAft>
              <a:buNone/>
            </a:pPr>
            <a:r>
              <a:rPr lang="en-US" sz="11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SimHash 检出 166 条重复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2920" y="4617720"/>
            <a:ext cx="11155680" cy="502920"/>
          </a:xfrm>
          <a:prstGeom prst="rect">
            <a:avLst/>
          </a:prstGeom>
          <a:solidFill>
            <a:srgbClr val="E8F7F2"/>
          </a:solidFill>
          <a:ln w="12700">
            <a:solidFill>
              <a:srgbClr val="BDE8D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AuthorityEvidence 21 条 · 覆盖 19 / 32 岗 · 6 / 6 新兴岗位全覆盖（8 条）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02920" y="5257800"/>
            <a:ext cx="11155680" cy="502920"/>
          </a:xfrm>
          <a:prstGeom prst="rect">
            <a:avLst/>
          </a:prstGeom>
          <a:solidFill>
            <a:srgbClr val="EDE9FE"/>
          </a:solidFill>
          <a:ln w="12700">
            <a:solidFill>
              <a:srgbClr val="D8D0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雇主识别 87.56%（2105 / 2404，页面显示 88%） · 独立来源按独立雇主实体归一化，同雇主跨渠道分发只计 1 次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2920" y="5852160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RoleContract ready 6 / 32（18.75%）｜对完整证据图投影 8–12 个同粒度能力簇；未 ready 表示证据不足，不代表岗位不可用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http://101.200.184.201:8200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3F4BD8"/>
          </a:solidFill>
          <a:ln/>
          <a:effectLst>
            <a:outerShdw sx="100000" sy="100000" kx="0" ky="0" algn="bl" rotWithShape="0" blurRad="5.998987968225125e+107" dist="1.499746992056281e+107" dir="1.535235553616204e+126">
              <a:srgbClr val="9C93C8">
                <a:alpha val="2.3999999999999996e+129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新一代信息技术岗位全景图谱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25296" y="8686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技能点级粒度 · 可按技术栈/级别/置信度切换视图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57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智岗图谱 · TalentGraph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7406640" cy="493776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7.618714719645908e+111" dist="1.904678679911477e+111" dir="9.211413321697224e+130">
              <a:srgbClr val="9C93C8">
                <a:alpha val="2.3999999999999997e+134"/>
              </a:srgbClr>
            </a:outerShdw>
          </a:effectLst>
        </p:spPr>
      </p:sp>
      <p:pic>
        <p:nvPicPr>
          <p:cNvPr id="8" name="Image 0" descr="C:\Users\32768\Desktop\project\挑战杯\talent-graph-system\docs\截图\02_全景能力图谱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63040"/>
            <a:ext cx="7132320" cy="4663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92440" y="155448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9.675767693950304e+115" dist="2.418941923487576e+115" dir="5.526847993018334e+135">
              <a:srgbClr val="9C93C8">
                <a:alpha val="2.3999999999999995e+139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75320" y="184708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F4BD8"/>
          </a:solidFill>
          <a:ln/>
        </p:spPr>
      </p:sp>
      <p:sp>
        <p:nvSpPr>
          <p:cNvPr id="11" name="Text 8"/>
          <p:cNvSpPr/>
          <p:nvPr/>
        </p:nvSpPr>
        <p:spPr>
          <a:xfrm>
            <a:off x="8869680" y="171907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彩色节点 = 岗位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869680" y="208483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按技术栈着色，新兴岗位琥珀高亮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92440" y="274320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1.2288224971316886e+120" dist="3.0720562428292216e+119" dir="3.3161087958110005e+140">
              <a:srgbClr val="9C93C8">
                <a:alpha val="2.3999999999999997e+144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75320" y="30358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7490"/>
          </a:solidFill>
          <a:ln/>
        </p:spPr>
      </p:sp>
      <p:sp>
        <p:nvSpPr>
          <p:cNvPr id="15" name="Text 12"/>
          <p:cNvSpPr/>
          <p:nvPr/>
        </p:nvSpPr>
        <p:spPr>
          <a:xfrm>
            <a:off x="8869680" y="290779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灰/彩节点 = 技能点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869680" y="327355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颗粒度到具体技术，可下钻关联岗位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92440" y="393192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1.5606045713572446e+124" dist="3.9015114283931116e+123" dir="1.9896652774866004e+145">
              <a:srgbClr val="9C93C8">
                <a:alpha val="2.3999999999999997e+149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5320" y="422452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B02AA8"/>
          </a:solidFill>
          <a:ln/>
        </p:spPr>
      </p:sp>
      <p:sp>
        <p:nvSpPr>
          <p:cNvPr id="19" name="Text 16"/>
          <p:cNvSpPr/>
          <p:nvPr/>
        </p:nvSpPr>
        <p:spPr>
          <a:xfrm>
            <a:off x="8869680" y="409651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力导向交互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869680" y="446227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拖拽 · 缩放 · 邻接聚焦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092440" y="5120640"/>
            <a:ext cx="35661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1.9819678056237005e+128" dist="4.954919514059251e+127" dir="1.1937991664919603e+150">
              <a:srgbClr val="9C93C8">
                <a:alpha val="2.3999999999999996e+154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275320" y="54132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47857"/>
          </a:solidFill>
          <a:ln/>
        </p:spPr>
      </p:sp>
      <p:sp>
        <p:nvSpPr>
          <p:cNvPr id="23" name="Text 20"/>
          <p:cNvSpPr/>
          <p:nvPr/>
        </p:nvSpPr>
        <p:spPr>
          <a:xfrm>
            <a:off x="8869680" y="5285232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多视图切换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8869680" y="565099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 / 级别 / 置信度阈值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http://101.200.184.201:8200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3F4BD8"/>
          </a:solidFill>
          <a:ln/>
          <a:effectLst>
            <a:outerShdw sx="100000" sy="100000" kx="0" ky="0" algn="bl" rotWithShape="0" blurRad="2.5170991131420998e+132" dist="6.2927477828552495e+131" dir="7.162794998951762e+154">
              <a:srgbClr val="9C93C8">
                <a:alpha val="2.3999999999999996e+159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新岗位发现与定义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25296" y="8686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多源联网检索 + 大模型 RAG 接地，识别萌芽中的新兴岗位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57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智岗图谱 · TalentGraph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2048256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3.1967158736904667e+136" dist="7.991789684226167e+135" dir="4.297676999371057e+159">
              <a:srgbClr val="9C93C8">
                <a:alpha val="2.3999999999999996e+16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9496" y="1463040"/>
            <a:ext cx="19751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关键词/种子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28316" y="1463040"/>
            <a:ext cx="274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79776" y="1463040"/>
            <a:ext cx="2048256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4.0598291595868925e+140" dist="1.0149572898967231e+140" dir="2.5786061996226343e+164">
              <a:srgbClr val="9C93C8">
                <a:alpha val="2.3999999999999995e+16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16352" y="1463040"/>
            <a:ext cx="19751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Tavily + Serper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双源检索证据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5172" y="1463040"/>
            <a:ext cx="274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56632" y="1463040"/>
            <a:ext cx="2048256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5.155983032675354e+144" dist="1.2889957581688384e+144" dir="1.5471637197735807e+169">
              <a:srgbClr val="9C93C8">
                <a:alpha val="2.3999999999999994e+17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93208" y="1463040"/>
            <a:ext cx="19751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大模型基于证据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生成结构化定义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82028" y="1463040"/>
            <a:ext cx="274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33488" y="1463040"/>
            <a:ext cx="2048256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6.548098451497699e+148" dist="1.6370246128744248e+148" dir="9.282982318641485e+173">
              <a:srgbClr val="9C93C8">
                <a:alpha val="2.3999999999999993e+179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70064" y="1463040"/>
            <a:ext cx="19751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能力项证据校验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置信度评估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58884" y="1463040"/>
            <a:ext cx="274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610344" y="1463040"/>
            <a:ext cx="2048256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8.316085033402078e+152" dist="2.0790212583505195e+152" dir="5.569789391184891e+178">
              <a:srgbClr val="9C93C8">
                <a:alpha val="2.3999999999999992e+184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46920" y="1463040"/>
            <a:ext cx="19751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 · 全景图谱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琥珀高亮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2926080"/>
            <a:ext cx="111556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1.056142799242064e+157" dist="2.64035699810516e+156" dir="3.3418736347109347e+183">
              <a:srgbClr val="9C93C8">
                <a:alpha val="2.399999999999999e+189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生成的岗位定义包含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77240" y="352044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E0E9FF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520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岗位名称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926080" y="352044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E0E9FF"/>
          </a:solidFill>
          <a:ln/>
        </p:spPr>
      </p:sp>
      <p:sp>
        <p:nvSpPr>
          <p:cNvPr id="26" name="Text 24"/>
          <p:cNvSpPr/>
          <p:nvPr/>
        </p:nvSpPr>
        <p:spPr>
          <a:xfrm>
            <a:off x="2926080" y="3520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核心职责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74920" y="352044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E0E9FF"/>
          </a:solidFill>
          <a:ln/>
        </p:spPr>
      </p:sp>
      <p:sp>
        <p:nvSpPr>
          <p:cNvPr id="28" name="Text 26"/>
          <p:cNvSpPr/>
          <p:nvPr/>
        </p:nvSpPr>
        <p:spPr>
          <a:xfrm>
            <a:off x="5074920" y="3520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必备技能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223760" y="352044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E0E9FF"/>
          </a:solidFill>
          <a:ln/>
        </p:spPr>
      </p:sp>
      <p:sp>
        <p:nvSpPr>
          <p:cNvPr id="30" name="Text 28"/>
          <p:cNvSpPr/>
          <p:nvPr/>
        </p:nvSpPr>
        <p:spPr>
          <a:xfrm>
            <a:off x="7223760" y="3520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加分技能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372600" y="352044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E0E9FF"/>
          </a:solidFill>
          <a:ln/>
        </p:spPr>
      </p:sp>
      <p:sp>
        <p:nvSpPr>
          <p:cNvPr id="32" name="Text 30"/>
          <p:cNvSpPr/>
          <p:nvPr/>
        </p:nvSpPr>
        <p:spPr>
          <a:xfrm>
            <a:off x="9372600" y="3520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典型行业应用场景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77240" y="429768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示例｜AI智能体开发工程师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必备技能：Python · PyTorch · 智能体 · 模型微调 · 向量数据库 · Docker · 分布式系统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典型场景：智能对话与客服机器人 · 智能推荐 · 竞品分析与市场调研；证据可下钻至真实 JD，并按独立雇主实体交叉验证（同雇主跨渠道去重）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7240" y="57150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6 / 6 新兴岗位权威佐证全覆盖（共 8 条）；全库 21 条 AuthorityEvidence 覆盖 19 岗，均保留来源快照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http://101.200.184.201:8200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3F4BD8"/>
          </a:solidFill>
          <a:ln/>
          <a:effectLst>
            <a:outerShdw sx="100000" sy="100000" kx="0" ky="0" algn="bl" rotWithShape="0" blurRad="1.3413013550374212e+161" dist="3.353253387593553e+160" dir="2.0051241808265608e+188">
              <a:srgbClr val="9C93C8">
                <a:alpha val="2.399999999999999e+194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既有岗位能力动态更新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25296" y="8686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2018 历史基线 → 2026 现网真实 JD 驱动演化 · 621 条：新增 367 / 删除 143 / 修改 111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57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智岗图谱 · TalentGraph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1155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1.703452720897525e+165" dist="4.2586318022438123e+164" dir="1.2030745084959364e+193">
              <a:srgbClr val="9C93C8">
                <a:alpha val="2.399999999999999e+19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55648"/>
            <a:ext cx="1554480" cy="777240"/>
          </a:xfrm>
          <a:prstGeom prst="roundRect">
            <a:avLst>
              <a:gd name="adj" fmla="val 14118"/>
            </a:avLst>
          </a:prstGeom>
          <a:solidFill>
            <a:srgbClr val="04785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55648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Add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14600" y="1719072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识别新出现且经交叉验证的能力项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14600" y="219456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 Java 工程师新增「大语言模型应用 / RAG / 容器化部署」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2971800"/>
            <a:ext cx="11155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2.1633849555398568e+169" dist="5.408462388849642e+168" dir="7.218447050975619e+197">
              <a:srgbClr val="9C93C8">
                <a:alpha val="2.3999999999999989e+204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264408"/>
            <a:ext cx="1554480" cy="777240"/>
          </a:xfrm>
          <a:prstGeom prst="roundRect">
            <a:avLst>
              <a:gd name="adj" fmla="val 14118"/>
            </a:avLst>
          </a:prstGeom>
          <a:solidFill>
            <a:srgbClr val="BE123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64408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 Delete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14600" y="3227832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近期数据不再要求的过时能力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14600" y="370332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标记 deprecated，保留历史版本可追溯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480560"/>
            <a:ext cx="11155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2.7474988935356184e+173" dist="6.868747233839046e+172" dir="4.3310682305853715e+202">
              <a:srgbClr val="9C93C8">
                <a:alpha val="2.399999999999999e+209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4773168"/>
            <a:ext cx="1554480" cy="777240"/>
          </a:xfrm>
          <a:prstGeom prst="roundRect">
            <a:avLst>
              <a:gd name="adj" fmla="val 14118"/>
            </a:avLst>
          </a:prstGeom>
          <a:solidFill>
            <a:srgbClr val="A16207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773168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 Modify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14600" y="4736592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重要度（必备↔加分）或权重显著变化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514600" y="521208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反映市场需求热度的上升或下降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60167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每条变更均附「更新说明 + 数据源 + 置信度」，岗位版本号自增，前端时间线可视化展示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http://101.200.184.201:8200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3F4BD8"/>
          </a:solidFill>
          <a:ln/>
          <a:effectLst>
            <a:outerShdw sx="100000" sy="100000" kx="0" ky="0" algn="bl" rotWithShape="0" blurRad="3.4893235947902355e+177" dist="8.723308986975589e+176" dir="2.598640938351223e+207">
              <a:srgbClr val="9C93C8">
                <a:alpha val="2.3999999999999986e+214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分级画像 · 初/中/高晋升路径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25296" y="8686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828 行覆盖 27 / 32 岗 · 越界 0 / 828 · 无画像 5 岗：机器人算法、自动驾驶、数字人训练师、提示词、智能硬件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57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智岗图谱 · TalentGraph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4.431440965383599e+181" dist="1.1078602413458997e+181" dir="1.5591845630107338e+212">
              <a:srgbClr val="9C93C8">
                <a:alpha val="2.3999999999999988e+21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830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初级 Junior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3042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0-3 年 · 基础技术栈与工程规范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0" y="20574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43400" y="155448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5.62793002603717e+185" dist="1.4069825065092926e+185" dir="9.355107378064403e+216">
              <a:srgbClr val="9C93C8">
                <a:alpha val="2.3999999999999988e+224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7830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3F4BD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783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中级 Middle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23042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 年 · 独立负责模块与核心技能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20574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83880" y="1554480"/>
            <a:ext cx="3429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7.147471133067207e+189" dist="1.7868677832668018e+189" dir="5.613064426838642e+221">
              <a:srgbClr val="9C93C8">
                <a:alpha val="2.3999999999999987e+229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0" y="17830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B02AA8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1783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 Senior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0" y="23042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年以上 · 架构能力与技术引领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593592"/>
            <a:ext cx="11155680" cy="2212848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9.077288338995353e+193" dist="2.2693220847488382e+193" dir="3.367838656103185e+226">
              <a:srgbClr val="9C93C8">
                <a:alpha val="2.3999999999999987e+234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7240" y="377647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晋升 diff（复用演化引擎的级别差异计算）｜示例：AI智能体开发工程师 中级 → 高级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233672"/>
            <a:ext cx="1060704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新增掌握：对比相邻等级画像，列出晋升需补齐的 active 能力</a:t>
            </a:r>
            <a:endParaRPr lang="en-US" sz="1250" dirty="0"/>
          </a:p>
          <a:p>
            <a:pPr indent="0" marL="0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要求强化：同一能力在目标等级中的权重上调，形成优先级</a:t>
            </a:r>
            <a:endParaRPr lang="en-US" sz="1250" dirty="0"/>
          </a:p>
          <a:p>
            <a:pPr indent="0" marL="0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默认前提：部分基础能力在高级 JD 中不再单列，但不误判为删除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画像写入严格与岗位 active 能力集相交，当前 828 / 828 均在边界内；真实分桶不达门槛的 5 岗不生成画像、不以旧切片填充。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http://101.200.184.201:8200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3F4BD8"/>
          </a:solidFill>
          <a:ln/>
          <a:effectLst>
            <a:outerShdw sx="100000" sy="100000" kx="0" ky="0" algn="bl" rotWithShape="0" blurRad="1.1528156190524098e+198" dist="2.8820390476310245e+197" dir="2.020703193661911e+231">
              <a:srgbClr val="9C93C8">
                <a:alpha val="2.3999999999999985e+239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人岗匹配诊断与差距分析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25296" y="8686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简历解析 → 多维匹配 → 差距诊断 → 学习路径 + 改进建议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57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智岗图谱 · TalentGraph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7040880" cy="493776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1.4640758361965605e+202" dist="3.6601895904914013e+201" dir="1.2124219161971466e+236">
              <a:srgbClr val="9C93C8">
                <a:alpha val="2.3999999999999984e+244"/>
              </a:srgbClr>
            </a:outerShdw>
          </a:effectLst>
        </p:spPr>
      </p:sp>
      <p:pic>
        <p:nvPicPr>
          <p:cNvPr id="8" name="Image 0" descr="C:\Users\32768\Desktop\project\挑战杯\talent-graph-system\docs\截图\03_人岗匹配诊断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63040"/>
            <a:ext cx="6766560" cy="4663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26680" y="1417320"/>
            <a:ext cx="39319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1.8593763119696318e+206" dist="4.648440779924079e+205" dir="7.27453149718288e+240">
              <a:srgbClr val="9C93C8">
                <a:alpha val="2.3999999999999982e+249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09560" y="15270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简历解析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909560" y="1837944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/ Word / 文本，提取召回 100%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726680" y="2386584"/>
            <a:ext cx="39319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2.3614079162014322e+210" dist="5.9035197905035806e+209" dir="4.364718898309728e+245">
              <a:srgbClr val="9C93C8">
                <a:alpha val="2.3999999999999983e+254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909560" y="24963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多维度匹配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909560" y="280720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必备覆盖 · 加分覆盖 · 级别 · 领域相关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726680" y="3355848"/>
            <a:ext cx="39319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2.9989880535758187e+214" dist="7.497470133939547e+213" dir="2.6188313389858368e+250">
              <a:srgbClr val="9C93C8">
                <a:alpha val="2.3999999999999983e+259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909560" y="346557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差距分析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909560" y="377647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已具备 vs 能力缺口，清晰可视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726680" y="4325112"/>
            <a:ext cx="39319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3.80871482804129e+218" dist="9.521787070103225e+217" dir="1.571298803391502e+255">
              <a:srgbClr val="9C93C8">
                <a:alpha val="2.399999999999998e+264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909560" y="4434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学习路径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909560" y="4745736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按技能先修关系拓扑排序分步规划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726680" y="5294376"/>
            <a:ext cx="393192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4.8370678316124384e+222" dist="1.2092669579031096e+222" dir="9.427792820349012e+259">
              <a:srgbClr val="9C93C8">
                <a:alpha val="2.3999999999999982e+269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909560" y="540410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改进建议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7909560" y="5715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大模型生成资源方向与达标周期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http://101.200.184.201:8200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3F4BD8"/>
          </a:solidFill>
          <a:ln/>
          <a:effectLst>
            <a:outerShdw sx="100000" sy="100000" kx="0" ky="0" algn="bl" rotWithShape="0" blurRad="6.143076146147797e+226" dist="1.5357690365369493e+226" dir="5.656675692209407e+264">
              <a:srgbClr val="9C93C8">
                <a:alpha val="2.399999999999998e+274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创新① 多源异构数据清洗与交叉验证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25296" y="8686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解决招聘数据的 时滞 / 噪音 / 抄袭 / 通胀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57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智岗图谱 · TalentGraph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7.801706705607703e+230" dist="1.950426676401926e+230" dir="3.3940054153256444e+269">
              <a:srgbClr val="9C93C8">
                <a:alpha val="2.399999999999998e+27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69164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BE123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抄袭 / 重复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方法：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64位 SimHash 海明距离 + 精确哈希近似去重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292608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8/8 抄袭样本检出，排除出交叉验证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141732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9.908167516121783e+234" dist="2.4770418790304458e+234" dir="2.0364032491953868e+274">
              <a:srgbClr val="9C93C8">
                <a:alpha val="2.399999999999998e+284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169164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A1620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能力通胀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237744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方法：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技能数远超中位数 + 非共识技能占比高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0" y="292608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17/17 通胀样本检出，噪声技能被过滤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74904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1.2583372745474664e+239" dist="3.145843186368666e+238" dir="1.221841949517232e+279">
              <a:srgbClr val="9C93C8">
                <a:alpha val="2.399999999999998e+289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402336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023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时滞 Lag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470916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方法：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发布时间衰减，新鲜度指数加权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7240" y="52578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旧数据降权，半衰期 180 天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0" y="374904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1.5980883386752823e+243" dist="3.995220846688206e+242" dir="7.331051697103393e+283">
              <a:srgbClr val="9C93C8">
                <a:alpha val="2.399999999999998e+294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402336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B02AA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4023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噪音 Noise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470916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方法：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同义词归一化 + 后缀裁剪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0" y="52578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"微服务架构"→"微服务"，合并碎片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http://101.200.184.201:8200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3F4BD8"/>
          </a:solidFill>
          <a:ln/>
          <a:effectLst>
            <a:outerShdw sx="100000" sy="100000" kx="0" ky="0" algn="bl" rotWithShape="0" blurRad="2.0295721901176086e+247" dist="5.0739304752940216e+246" dir="4.3986310182620354e+288">
              <a:srgbClr val="9C93C8">
                <a:alpha val="2.399999999999998e+299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创新② 能力"幻觉"防控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25296" y="8686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只有被多源交叉验证的能力才高置信进入图谱，且可溯源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57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智岗图谱 · TalentGraph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1155680" cy="868680"/>
          </a:xfrm>
          <a:prstGeom prst="roundRect">
            <a:avLst>
              <a:gd name="adj" fmla="val 10526"/>
            </a:avLst>
          </a:prstGeom>
          <a:solidFill>
            <a:srgbClr val="0F172A"/>
          </a:solidFill>
          <a:ln/>
          <a:effectLst>
            <a:outerShdw sx="100000" sy="100000" kx="0" ky="0" algn="bl" rotWithShape="0" blurRad="2.577556681449363e+251" dist="6.443891703623408e+250" dir="2.6391786109572213e+293">
              <a:srgbClr val="9C93C8">
                <a:alpha val="2.399999999999998e+30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41732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0.35·支持率 + 0.20·来源多样性 + 0.15·时效性 + 0.20·来源权威度 + 0.10·外部验证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111556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3.273496985440691e+255" dist="8.183742463601727e+254" dir="1.5835071665743328e+298">
              <a:srgbClr val="9C93C8">
                <a:alpha val="Infinity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852928"/>
            <a:ext cx="411480" cy="411480"/>
          </a:xfrm>
          <a:prstGeom prst="ellipse">
            <a:avLst/>
          </a:prstGeom>
          <a:solidFill>
            <a:srgbClr val="3F4BD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52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2697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交叉验证门槛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0" y="2697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必备技能要求 ≥2 个独立雇主实体支持；同雇主跨分发渠道去重 —— 防止转载被误当成多源共识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703320"/>
            <a:ext cx="111556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4.1573411715096775e+259" dist="1.0393352928774194e+259" dir="9.501042999445996e+302">
              <a:srgbClr val="9C93C8">
                <a:alpha val="Infinity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995928"/>
            <a:ext cx="411480" cy="41148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95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840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置信度过滤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1480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不满足交叉验证门槛的能力项标记为 candidate，不进入 RoleContract 与主匹配视图 —— 保留证据但不放大噪音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4846320"/>
            <a:ext cx="111556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5.27982328781729e+263" dist="1.3199558219543225e+263" dir="5.700625799667598e+307">
              <a:srgbClr val="9C93C8">
                <a:alpha val="Infinity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138928"/>
            <a:ext cx="411480" cy="411480"/>
          </a:xfrm>
          <a:prstGeom prst="ellipse">
            <a:avLst/>
          </a:prstGeom>
          <a:solidFill>
            <a:srgbClr val="047857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138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49834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证据溯源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114800" y="4983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每个能力项保留多条证据（JD 片段 / 外部链接），前端可逐项展开追溯 —— 可解释、可审计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60807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02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嵌入模型退化守卫：识别中文向量模型对英文token的退化，语义匹配分类准确率 86.9% → 100%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http://101.200.184.201:8200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3F4BD8"/>
          </a:solidFill>
          <a:ln/>
          <a:effectLst>
            <a:outerShdw sx="100000" sy="100000" kx="0" ky="0" algn="bl" rotWithShape="0" blurRad="6.705375575527958e+267" dist="1.6763438938819895e+267" dir="Infinity">
              <a:srgbClr val="9C93C8">
                <a:alpha val="Infinity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统一置信度公式 · 每一分都可解释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25296" y="8686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五因子线性加权（services/confidence.py 全系统唯一）· 因子逐项落库 · 前端点击徽章可见分解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57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智岗图谱 · TalentGraph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208483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8.515826980920506e+271" dist="2.1289567452301266e+271" dir="Infinity">
              <a:srgbClr val="9C93C8">
                <a:alpha val="Infinity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627632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2920" y="2176272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支持率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12648" y="256032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提及技能的独立 JD 数 ÷ 有效 JD 总数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70632" y="1463040"/>
            <a:ext cx="208483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1.0815100265769043e+276" dist="2.7037750664422608e+275" dir="Infinity">
              <a:srgbClr val="9C93C8">
                <a:alpha val="Infinity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70632" y="1627632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770632" y="2176272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来源多样性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880360" y="256032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独立雇主实体数 ÷ 3 封顶（同雇主跨渠道去重）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38344" y="1463040"/>
            <a:ext cx="208483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1.3735177337526685e+280" dist="3.433794334381671e+279" dir="Infinity">
              <a:srgbClr val="9C93C8">
                <a:alpha val="Infinity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38344" y="1627632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038344" y="2176272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时效性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148072" y="256032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新鲜度均值，指数衰减半衰期 180 天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06056" y="1463040"/>
            <a:ext cx="208483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1.744367521865889e+284" dist="4.360918804664722e+283" dir="Infinity">
              <a:srgbClr val="9C93C8">
                <a:alpha val="Infinity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06056" y="1627632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02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0.20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306056" y="2176272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来源权威度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415784" y="256032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官网/政府 1.0 · 数据集 0.7 · 网络 0.6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573768" y="1463040"/>
            <a:ext cx="208483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2.2153467527696788e+288" dist="5.538366881924197e+287" dir="Infinity">
              <a:srgbClr val="9C93C8">
                <a:alpha val="Infinity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573768" y="1627632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162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0.10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573768" y="2176272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外部验证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683496" y="2560320"/>
            <a:ext cx="18653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联网检索 / 权威文件佐证记 1，否则 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3703320"/>
            <a:ext cx="1115568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2.8134903760174922e+292" dist="7.033725940043731e+291" dir="Infinity">
              <a:srgbClr val="9C93C8">
                <a:alpha val="Infinity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77240" y="385876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算例（口径演示）｜技能「大语言模型」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7240" y="426110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9/13 条有效 JD 提及（支持率 0.69）· 2 个独立雇主实体（多样性 0.67）· 平均新鲜度 0.88 · 全部企业官网（权威度 1.0）· 暂无外部验证（0）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" y="4681728"/>
            <a:ext cx="10607040" cy="548640"/>
          </a:xfrm>
          <a:prstGeom prst="rect">
            <a:avLst/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0.35×0.69 + 0.20×0.67 + 0.15×0.88 + 0.20×1.0 + 0.10×0 ≈ 0.71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2920" y="5522976"/>
            <a:ext cx="11155680" cy="786384"/>
          </a:xfrm>
          <a:prstGeom prst="rect">
            <a:avLst/>
          </a:prstGeom>
          <a:solidFill>
            <a:srgbClr val="EDE9FE"/>
          </a:solidFill>
          <a:ln w="12700">
            <a:solidFill>
              <a:srgbClr val="D8D0F5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R6 最终（补齐「必备能力 ≥2 个独立雇主」闸门后）：active 812 / candidate 3604 / deprecated 1231 —— 48 条仅 0–1 个独立雇主支撑的历史遗留行被降级为 candidate，证据链完整保留，这正是闸门在生效。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全库均值 0.5502（2026-08-30 口径；含时效性因子，约 -0.0003/天 自然衰减，每日 02:30 批算重跑）（既有 0.5271 / 新兴 0.6507）：均值上移源于最低置信度的那批行被移出 active，并非单条能力项的置信度提高。早期材料 0.6167 / 0.5613 / 0.4783 为历史快照。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http://101.200.184.201:8200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3F4BD8"/>
          </a:solidFill>
          <a:ln/>
          <a:effectLst>
            <a:outerShdw sx="100000" sy="100000" kx="0" ky="0" algn="bl" rotWithShape="0" blurRad="3.573132777542215e+296" dist="8.932831943855538e+295" dir="Infinity">
              <a:srgbClr val="9C93C8">
                <a:alpha val="Infinity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测试与验证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25296" y="8686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双轨数据集（对抗基准 379 条 + 真实语料 2570 条）· 三项核心指标全部超过 90%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57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智岗图谱 · TalentGraph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4.537878627478613e+300" dist="1.1344696568696533e+300" dir="Infinity">
              <a:srgbClr val="9C93C8">
                <a:alpha val="Infinity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19072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98.25%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8640" y="2724912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 解析准确率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14553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 · 371 条非重复 JD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34381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 ≥ 90% 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20540" y="146304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5.763105856897839e+304" dist="1.4407764642244596e+304" dir="Infinity">
              <a:srgbClr val="9C93C8">
                <a:alpha val="Infinity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20540" y="1719072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96.49%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320540" y="2724912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简历提取准确率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20540" y="314553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 · 召回 100%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20540" y="34381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 ≥ 90% 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92440" y="146304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C93C8">
                <a:alpha val="Infinity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092440" y="1719072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8092440" y="2724912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人岗匹配准确率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92440" y="314553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必备技能判定分类准确率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92440" y="34381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 ≥ 90% 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069080"/>
            <a:ext cx="26289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C93C8">
                <a:alpha val="Infinity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4251960"/>
            <a:ext cx="26289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8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48640" y="4892040"/>
            <a:ext cx="26289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抄袭检出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60420" y="4069080"/>
            <a:ext cx="26289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C93C8">
                <a:alpha val="Infinity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60420" y="4251960"/>
            <a:ext cx="26289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17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360420" y="4892040"/>
            <a:ext cx="26289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通胀检出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2200" y="4069080"/>
            <a:ext cx="26289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C93C8">
                <a:alpha val="Infinity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72200" y="4251960"/>
            <a:ext cx="26289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73%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172200" y="4892040"/>
            <a:ext cx="26289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单元测试覆盖率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983980" y="4069080"/>
            <a:ext cx="26289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C93C8">
                <a:alpha val="Infinity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983980" y="4251960"/>
            <a:ext cx="26289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146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8983980" y="4892040"/>
            <a:ext cx="26289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测试用例全通过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F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测试数据与评测脚本可一键复现：run_collect → import_raw → run_pipeline --from-db → evaluate all → pytest --cov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http://101.200.184.201:8200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3F4BD8"/>
          </a:solidFill>
          <a:ln/>
          <a:effectLst>
            <a:outerShdw sx="100000" sy="100000" kx="0" ky="0" algn="bl" rotWithShape="0" blurRad="Infinity" dist="Infinity" dir="Infinity">
              <a:srgbClr val="9C93C8">
                <a:alpha val="Infinity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07008" y="3840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工程化部署与价值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25296" y="8686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轻量部署 · 已稳定上线 · 可迁移可进化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0" y="457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智岗图谱 · TalentGraph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54406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C93C8">
                <a:alpha val="Infinity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4B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轻量化部署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500"/>
              </a:spcAft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后端单进程同端口托管前端，常驻内存约 162MB</a:t>
            </a:r>
            <a:endParaRPr lang="en-US" sz="125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systemd 内存上限 420MB 保护小内存服务器</a:t>
            </a:r>
            <a:endParaRPr lang="en-US" sz="125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提供 Dockerfile / docker-compose 容器化部署</a:t>
            </a:r>
            <a:endParaRPr lang="en-US" sz="125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已上线：http://101.200.184.201:8200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4068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DFF1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C93C8">
                <a:alpha val="Infinity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2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实用价值与可迁移性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0574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500"/>
              </a:spcAft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全流程闭环，有效解决企业招聘与人岗匹配痛点</a:t>
            </a:r>
            <a:endParaRPr lang="en-US" sz="125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技术方案与岗位无关，可迁移至医疗/金融/制造</a:t>
            </a:r>
            <a:endParaRPr lang="en-US" sz="125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数据合规：简历个人信息不留存，能力项可溯源审计</a:t>
            </a:r>
            <a:endParaRPr lang="en-US" sz="1250" dirty="0"/>
          </a:p>
          <a:p>
            <a:pPr indent="0" marL="0">
              <a:spcAft>
                <a:spcPts val="1500"/>
              </a:spcAft>
              <a:buNone/>
            </a:pPr>
            <a:r>
              <a:rPr lang="en-US" sz="1250" dirty="0">
                <a:solidFill>
                  <a:srgbClr val="626A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可对接企业人才盘点与培训体系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886200"/>
            <a:ext cx="11155680" cy="2240280"/>
          </a:xfrm>
          <a:prstGeom prst="roundRect">
            <a:avLst>
              <a:gd name="adj" fmla="val 4898"/>
            </a:avLst>
          </a:prstGeom>
          <a:solidFill>
            <a:srgbClr val="3F4BD8"/>
          </a:solidFill>
          <a:ln/>
          <a:effectLst>
            <a:outerShdw sx="100000" sy="100000" kx="0" ky="0" algn="bl" rotWithShape="0" blurRad="Infinity" dist="Infinity" dir="Infinity">
              <a:srgbClr val="9C93C8">
                <a:alpha val="Infinity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4206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让人才与岗位，精准相遇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02920" y="49377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 + 大模型 + 知识图谱  ·  多源交叉验证  ·  反幻觉防控  ·  数据合规  ·  动态演化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544068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在线体验：http://101.200.184.201:8200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http://101.200.184.201:8200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7D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智岗图谱 作品介绍</dc:title>
  <dc:subject>PptxGenJS Presentation</dc:subject>
  <dc:creator>TalentGraph AI</dc:creator>
  <cp:lastModifiedBy>TalentGraph AI</cp:lastModifiedBy>
  <cp:revision>1</cp:revision>
  <dcterms:created xsi:type="dcterms:W3CDTF">2026-08-29T20:56:24Z</dcterms:created>
  <dcterms:modified xsi:type="dcterms:W3CDTF">2026-08-29T20:56:24Z</dcterms:modified>
</cp:coreProperties>
</file>